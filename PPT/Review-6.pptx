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932" r:id="rId1"/>
  </p:sldMasterIdLst>
  <p:notesMasterIdLst>
    <p:notesMasterId r:id="rId13"/>
  </p:notesMasterIdLst>
  <p:handoutMasterIdLst>
    <p:handoutMasterId r:id="rId14"/>
  </p:handoutMasterIdLst>
  <p:sldIdLst>
    <p:sldId id="567" r:id="rId2"/>
    <p:sldId id="257" r:id="rId3"/>
    <p:sldId id="580" r:id="rId4"/>
    <p:sldId id="537" r:id="rId5"/>
    <p:sldId id="568" r:id="rId6"/>
    <p:sldId id="599" r:id="rId7"/>
    <p:sldId id="569" r:id="rId8"/>
    <p:sldId id="581" r:id="rId9"/>
    <p:sldId id="600" r:id="rId10"/>
    <p:sldId id="590" r:id="rId11"/>
    <p:sldId id="514" r:id="rId12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15"/>
      <p:bold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596"/>
    <a:srgbClr val="3A195B"/>
    <a:srgbClr val="005094"/>
    <a:srgbClr val="004170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E217D-AABA-4F05-8AA0-27E1680CEB71}" v="332" dt="2026-02-17T05:09:10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89011" autoAdjust="0"/>
  </p:normalViewPr>
  <p:slideViewPr>
    <p:cSldViewPr snapToGrid="0" showGuides="1">
      <p:cViewPr>
        <p:scale>
          <a:sx n="66" d="100"/>
          <a:sy n="66" d="100"/>
        </p:scale>
        <p:origin x="1188" y="272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622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84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373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007A-DD8B-1C81-09F5-DB50BCEE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AAF22-9FCC-3ED0-E6A9-9F1926443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21A96-BD8B-CAAF-8F63-BD2F720DF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251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064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334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1480F-FB0F-DEB1-8ED3-775D446D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2885F-B682-ABDA-525E-8612BBA5E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AF16C-12E4-0854-F949-6C4B496FD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700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105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73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61680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691628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485946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485977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 userDrawn="1"/>
        </p:nvSpPr>
        <p:spPr bwMode="auto">
          <a:xfrm>
            <a:off x="4719588" y="1143000"/>
            <a:ext cx="4073090" cy="367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94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 userDrawn="1"/>
        </p:nvSpPr>
        <p:spPr bwMode="auto">
          <a:xfrm>
            <a:off x="442761" y="1143000"/>
            <a:ext cx="8349917" cy="3670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143000"/>
            <a:ext cx="8349916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252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112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84972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932002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30" r:id="rId6"/>
    <p:sldLayoutId id="2147484029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8C1951C4-93AE-4DB7-B5EA-49D22832B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666" y="1391077"/>
            <a:ext cx="8791510" cy="4243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REVIEW - VI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174A5FDC-374E-4C44-807E-379B8C1A7C48}"/>
              </a:ext>
            </a:extLst>
          </p:cNvPr>
          <p:cNvSpPr txBox="1"/>
          <p:nvPr/>
        </p:nvSpPr>
        <p:spPr>
          <a:xfrm>
            <a:off x="123666" y="2107982"/>
            <a:ext cx="9052825" cy="35522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and Engagement Application</a:t>
            </a:r>
            <a:endParaRPr lang="en-US" sz="2200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B52336-9937-42CE-9CD3-1A9FFF08020F}"/>
              </a:ext>
            </a:extLst>
          </p:cNvPr>
          <p:cNvSpPr txBox="1"/>
          <p:nvPr/>
        </p:nvSpPr>
        <p:spPr>
          <a:xfrm>
            <a:off x="123666" y="3860550"/>
            <a:ext cx="6933202" cy="111992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Tavva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Sandeep Kumar Reddy(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23951A66H0)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23951A66C0)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Kishore(24955A6651).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F5F14-B7D7-4625-A8EF-1B0BE817536D}"/>
              </a:ext>
            </a:extLst>
          </p:cNvPr>
          <p:cNvSpPr txBox="1"/>
          <p:nvPr/>
        </p:nvSpPr>
        <p:spPr bwMode="auto">
          <a:xfrm>
            <a:off x="5788180" y="3701244"/>
            <a:ext cx="3388311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Shaik </a:t>
            </a:r>
            <a:r>
              <a:rPr lang="en-GB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Jakeer</a:t>
            </a:r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Hussain, Associate Professor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ML).</a:t>
            </a:r>
            <a:endParaRPr lang="en-IN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51E22A2-205D-43E4-85C7-5AF3D8EA7555}"/>
              </a:ext>
            </a:extLst>
          </p:cNvPr>
          <p:cNvSpPr txBox="1">
            <a:spLocks/>
          </p:cNvSpPr>
          <p:nvPr/>
        </p:nvSpPr>
        <p:spPr>
          <a:xfrm>
            <a:off x="123666" y="3351725"/>
            <a:ext cx="8791510" cy="349519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6648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8200" y="1143000"/>
            <a:ext cx="0" cy="3467735"/>
          </a:xfrm>
          <a:custGeom>
            <a:avLst/>
            <a:gdLst/>
            <a:ahLst/>
            <a:cxnLst/>
            <a:rect l="l" t="t" r="r" b="b"/>
            <a:pathLst>
              <a:path h="3467735">
                <a:moveTo>
                  <a:pt x="0" y="0"/>
                </a:moveTo>
                <a:lnTo>
                  <a:pt x="0" y="3467493"/>
                </a:lnTo>
              </a:path>
            </a:pathLst>
          </a:custGeom>
          <a:ln w="19050">
            <a:solidFill>
              <a:srgbClr val="00509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653" y="1071012"/>
            <a:ext cx="4584548" cy="2476960"/>
          </a:xfrm>
          <a:prstGeom prst="rect">
            <a:avLst/>
          </a:prstGeom>
        </p:spPr>
        <p:txBody>
          <a:bodyPr vert="horz" wrap="square" lIns="0" tIns="88265" rIns="0" bIns="0" rtlCol="0" anchor="t">
            <a:spAutoFit/>
          </a:bodyPr>
          <a:lstStyle/>
          <a:p>
            <a:pPr marL="283845" indent="-271145">
              <a:spcBef>
                <a:spcPts val="695"/>
              </a:spcBef>
              <a:buClr>
                <a:srgbClr val="005093"/>
              </a:buClr>
              <a:buFont typeface="Wingdings"/>
              <a:buChar char=""/>
              <a:tabLst>
                <a:tab pos="283845" algn="l"/>
              </a:tabLst>
            </a:pPr>
            <a:r>
              <a:rPr lang="en-US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6: 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ALIGNMENT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VALIDATION OF RESULTS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COMPARISIONS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ACCURACY</a:t>
            </a:r>
          </a:p>
          <a:p>
            <a:pPr marL="469900" lvl="1"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Arial MT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653" y="372218"/>
            <a:ext cx="707231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143000"/>
            <a:ext cx="3495675" cy="3467100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76E399F-55E0-4BDB-951D-6A5B065C3946}"/>
              </a:ext>
            </a:extLst>
          </p:cNvPr>
          <p:cNvSpPr txBox="1">
            <a:spLocks/>
          </p:cNvSpPr>
          <p:nvPr/>
        </p:nvSpPr>
        <p:spPr>
          <a:xfrm>
            <a:off x="8629650" y="4817444"/>
            <a:ext cx="514350" cy="3260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327F5A-7D8F-4012-9A1A-2197D74A174F}" type="slidenum">
              <a:rPr lang="en-IN" sz="1200" smtClean="0">
                <a:solidFill>
                  <a:schemeClr val="bg1"/>
                </a:solidFill>
              </a:rPr>
              <a:pPr algn="r"/>
              <a:t>2</a:t>
            </a:fld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Alignment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CAB0AF-0E55-F866-B44E-FB41939BE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65" y="1199777"/>
            <a:ext cx="8215205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Identified Problem: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Bottlenecks: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directly addresses the inefficiency of manual roll-calls, which currently consume up to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15% of instructional time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are prone to human logging errors.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Flaws: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targets the "buddy punching" phenomenon found in static digital codes, where students bypass physical presence requirements by sharing screenshots.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Fragmentation: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resolves the issue of disconnected data silos, where attendance logs and technical performance metrics are stored separately, preventing a unified view of student progress.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the Solution: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Authentication: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Attendance Engine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utilizes dynamic, time-limited, and encrypted QR scanning to ensure students are physically present, effectively eliminating proxy entries.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Integrity: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synchronizing timestamps directly with the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Master Timetable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solution ensures 100% subject-wise record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1392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Alignment (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0708CE-C147-CACF-DBFA-5FD08D818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2833"/>
            <a:ext cx="8563611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Robustness of the Solution: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5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eliminates false-positive attendance (proxy entries) that static QR systems allow by implementing Dynamic Time-Token Logic.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5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Hybrid Attendance Engine ensures 100% operational continuity by providing a streamlined Manual Override interface for faculty to handle technical exceptions or hardware failures.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Relevance: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Design:</a:t>
            </a:r>
            <a:r>
              <a:rPr kumimoji="0" lang="en-US" altLang="en-US" sz="135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web-based, responsive interface (React.js) ensures immediate accessibility for students and faculty without complex hardware installations.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Integration:</a:t>
            </a:r>
            <a:r>
              <a:rPr kumimoji="0" lang="en-US" altLang="en-US" sz="135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Unlike passive logbooks, the system makes data actionable by integrating a </a:t>
            </a: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 Coding Leaderboard</a:t>
            </a:r>
            <a:r>
              <a:rPr kumimoji="0" lang="en-US" altLang="en-US" sz="135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directly linking attendance consistency with technical skill growth.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5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Discussion Outcome: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5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confirm that the </a:t>
            </a:r>
            <a:r>
              <a:rPr kumimoji="0" lang="en-US" altLang="en-US" sz="135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Ecosystem </a:t>
            </a:r>
            <a:r>
              <a:rPr kumimoji="0" lang="en-US" altLang="en-US" sz="135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 bridges the gap between administrative monitoring and student success, shifting institutional management from "reactive tracking" to "proactive engagement".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097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Validation of Results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F4374F-FE7D-8A62-6E1D-85713ABFD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" y="1062570"/>
            <a:ext cx="873973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System Functionality: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Verified strict segregation between Admin, Faculty, and Student dashboards.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Validated that students cannot access sensitive administrative reports or modify their own attendance logs.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Engine Success: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executed both Dynamic QR Scanning and Manual Override modes.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Confirmed that faculty can switch seamlessly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between automated scanning and manual roll-call for exception handling.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Security Logic: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Anti-Proxy Logic: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Validated that static screenshots fail authentication due to server-side timestamp hashing and token expiration logic.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Timetable Alignment: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Confirmed that the system correctly rejects scans attempted outside the scheduled class hour (e.g., scanning a 9:00 AM code at 10:30 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8715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74BA-6F32-42B4-2EA5-4277F2D2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7C6830-0AE8-DBA7-99C9-D7F6435E7A5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CDBF042-C7C6-1505-F6A2-7D7D4846051C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Validation of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5CB9E9-9A57-8067-CB6D-131597E66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36" y="1046897"/>
            <a:ext cx="87589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Business Logic: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 Alignment: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Validated that every scan is cross-referenced with the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Timetable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"wrong class" or "wrong time" logging 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Prevention: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Confirmed that the system rejects multiple scans from the same student for the same session, ensuring a single, accurate record.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Ethical Validation: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Thresholds: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Verified that students falling below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75% attendance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trigger an "At-Risk" alert on the dashboard 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Validated that sensitive faculty tools (like credential resets) are completely inaccessible to student accounts, strictly adhering to institutional data policies.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Consistency: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Concurrency: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maintained data integrity and speed </a:t>
            </a:r>
            <a:r>
              <a:rPr lang="en-GB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1.5s latency) even during simulated peak loads of </a:t>
            </a:r>
            <a:r>
              <a:rPr lang="en-GB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100+ simultaneous scans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6974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Comparisions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1C6856-D695-66EC-7846-F26C2924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" y="1243259"/>
            <a:ext cx="865311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Analysis: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 Latency: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achieved an average "scan-to-log" time of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than 1.5 seconds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 student, ensuring rapid classroom entry.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Throughput Capacity: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Node.js backend successfully processed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100+ simultaneous scans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data collisions or significant latency spikes, meeting the scalability target for large lecture halls.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Responsiveness: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Scaling: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ranking algorithm re-sorted the global leaderboard based on updated coding scores in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 200ms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simulated database of 1,000 students.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 Sync: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Loading the role-specific "Today's Schedule" from the Master Timetable was optimized to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than 300ms.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6661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Comparisions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138D347-AFFB-745E-6600-8FE3BA1C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" y="1056981"/>
            <a:ext cx="8279063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Comparison (Class of 60 Students):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Roll-call: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roughly 10–15 minutes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 session.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human error and proxy attendance.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QR Code: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2–3 minutes, but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remains vulnerable to screenshot sharing.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 is low (&lt; 2 seconds), but security is compromised.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AI System: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Completes the entire process in &lt; 30 seconds.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 due to time-sensitive encryption.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a Scan-to-Log Latency of &lt; 1.5 seconds.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reduces administrative attendance marking time by over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recovering significant instructional hours for faculty.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6438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B721-B5B3-1A1B-7604-F49661D8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DE957E-AB6C-8EDB-AC87-A936EA6833E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442BB61-E943-9E11-3071-D6AA45D061AD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Methodology Accuracy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2146E-3449-3C19-0E3B-8BD494740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835"/>
            <a:ext cx="827906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Reliability of the Hybrid Attendance Engine: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Success: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demonstrated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 in distinguishing between valid and invalid scans during testing.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 Validation: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Scans attempted outside the designated class hour were successfully rejected by the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Timetable Validation Engine.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maintained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false positives for proxy attendance due to the implementation of Time-Based Token Hashing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renders old QR screenshots invalid.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Fail-Safe Robustness: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inclusion of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Manual Override option ensured 100% data continuity even in edge cases like student hardware failure, preventing data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77778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8866B6-B176-A7C6-1FE3-0DB62EEB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80" y="1101924"/>
            <a:ext cx="828735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Realization: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&amp; Engagement Application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successfully transitioned from a concept to a fully operational, multi-role ecosystem, strictly tested across Admin, Faculty, and Student interfaces.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Validation: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demonstrated high-speed performance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sub-1.5 second latency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attendance scanning, effectively reducing administrative marking time by over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Integrity: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implementation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QR automation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eliminated "buddy punching," ensuring 100% record integrity by anchoring logs to the Master Timetable.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Shift: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integration of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Coding Leaderboard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transformed the student portal into a motivational hub, successfully driving technical competency through transparent peer competition.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fulfills all primary objectives of efficiency, security, and engagement, providing a robust, scalable foundation for modern institutional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769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41802-39C9-442C-A52E-2BA7B306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1131</Words>
  <Application>Microsoft Office PowerPoint</Application>
  <PresentationFormat>On-screen Show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</vt:lpstr>
      <vt:lpstr>Arial</vt:lpstr>
      <vt:lpstr>Wingdings</vt:lpstr>
      <vt:lpstr>Arial MT</vt:lpstr>
      <vt:lpstr>Garamond</vt:lpstr>
      <vt:lpstr>MC Powerpoint Template</vt:lpstr>
      <vt:lpstr>CAPSTONE PROJECT REVIEW - VI</vt:lpstr>
      <vt:lpstr>Contents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2016-09-09T13:34:50Z</dcterms:created>
  <dcterms:modified xsi:type="dcterms:W3CDTF">2026-02-17T05:09:21Z</dcterms:modified>
</cp:coreProperties>
</file>