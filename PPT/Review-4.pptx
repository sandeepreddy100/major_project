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 autoCompressPictures="0">
  <p:sldMasterIdLst>
    <p:sldMasterId id="2147483932" r:id="rId1"/>
  </p:sldMasterIdLst>
  <p:notesMasterIdLst>
    <p:notesMasterId r:id="rId16"/>
  </p:notesMasterIdLst>
  <p:handoutMasterIdLst>
    <p:handoutMasterId r:id="rId17"/>
  </p:handoutMasterIdLst>
  <p:sldIdLst>
    <p:sldId id="567" r:id="rId2"/>
    <p:sldId id="257" r:id="rId3"/>
    <p:sldId id="537" r:id="rId4"/>
    <p:sldId id="548" r:id="rId5"/>
    <p:sldId id="549" r:id="rId6"/>
    <p:sldId id="553" r:id="rId7"/>
    <p:sldId id="554" r:id="rId8"/>
    <p:sldId id="547" r:id="rId9"/>
    <p:sldId id="559" r:id="rId10"/>
    <p:sldId id="563" r:id="rId11"/>
    <p:sldId id="546" r:id="rId12"/>
    <p:sldId id="552" r:id="rId13"/>
    <p:sldId id="566" r:id="rId14"/>
    <p:sldId id="514" r:id="rId15"/>
  </p:sldIdLst>
  <p:sldSz cx="9144000" cy="5143500" type="screen16x9"/>
  <p:notesSz cx="6858000" cy="9296400"/>
  <p:embeddedFontLst>
    <p:embeddedFont>
      <p:font typeface="Garamond" panose="02020404030301010803" pitchFamily="18" charset="0"/>
      <p:regular r:id="rId18"/>
      <p:bold r:id="rId19"/>
      <p: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3">
          <p15:clr>
            <a:srgbClr val="A4A3A4"/>
          </p15:clr>
        </p15:guide>
        <p15:guide id="2" orient="horz" pos="325">
          <p15:clr>
            <a:srgbClr val="A4A3A4"/>
          </p15:clr>
        </p15:guide>
        <p15:guide id="3" orient="horz" pos="2917">
          <p15:clr>
            <a:srgbClr val="A4A3A4"/>
          </p15:clr>
        </p15:guide>
        <p15:guide id="4" orient="horz" pos="399">
          <p15:clr>
            <a:srgbClr val="A4A3A4"/>
          </p15:clr>
        </p15:guide>
        <p15:guide id="5" pos="576">
          <p15:clr>
            <a:srgbClr val="A4A3A4"/>
          </p15:clr>
        </p15:guide>
        <p15:guide id="6" pos="5184">
          <p15:clr>
            <a:srgbClr val="A4A3A4"/>
          </p15:clr>
        </p15:guide>
        <p15:guide id="7" pos="2880">
          <p15:clr>
            <a:srgbClr val="A4A3A4"/>
          </p15:clr>
        </p15:guide>
        <p15:guide id="8" pos="5108">
          <p15:clr>
            <a:srgbClr val="A4A3A4"/>
          </p15:clr>
        </p15:guide>
        <p15:guide id="9" pos="65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592">
          <p15:clr>
            <a:srgbClr val="A4A3A4"/>
          </p15:clr>
        </p15:guide>
        <p15:guide id="2" orient="horz" pos="5542">
          <p15:clr>
            <a:srgbClr val="A4A3A4"/>
          </p15:clr>
        </p15:guide>
        <p15:guide id="3" orient="horz" pos="5777">
          <p15:clr>
            <a:srgbClr val="A4A3A4"/>
          </p15:clr>
        </p15:guide>
        <p15:guide id="4" pos="286">
          <p15:clr>
            <a:srgbClr val="A4A3A4"/>
          </p15:clr>
        </p15:guide>
        <p15:guide id="5" pos="40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59596"/>
    <a:srgbClr val="3A195B"/>
    <a:srgbClr val="005094"/>
    <a:srgbClr val="004170"/>
    <a:srgbClr val="F0F1F1"/>
    <a:srgbClr val="004670"/>
    <a:srgbClr val="00468C"/>
    <a:srgbClr val="004D8E"/>
    <a:srgbClr val="145094"/>
    <a:srgbClr val="005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E15685-B374-4AC2-965E-FEB2E5CD97A9}" v="31" dt="2025-12-22T14:52:28.7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53" autoAdjust="0"/>
    <p:restoredTop sz="89011" autoAdjust="0"/>
  </p:normalViewPr>
  <p:slideViewPr>
    <p:cSldViewPr snapToGrid="0" showGuides="1">
      <p:cViewPr varScale="1">
        <p:scale>
          <a:sx n="58" d="100"/>
          <a:sy n="58" d="100"/>
        </p:scale>
        <p:origin x="1428" y="268"/>
      </p:cViewPr>
      <p:guideLst>
        <p:guide orient="horz" pos="2843"/>
        <p:guide orient="horz" pos="325"/>
        <p:guide orient="horz" pos="2917"/>
        <p:guide orient="horz" pos="399"/>
        <p:guide pos="576"/>
        <p:guide pos="5184"/>
        <p:guide pos="2880"/>
        <p:guide pos="5108"/>
        <p:guide pos="653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71" d="100"/>
        <a:sy n="71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-3894" y="-96"/>
      </p:cViewPr>
      <p:guideLst>
        <p:guide orient="horz" pos="2592"/>
        <p:guide orient="horz" pos="5542"/>
        <p:guide orient="horz" pos="5777"/>
        <p:guide pos="286"/>
        <p:guide pos="403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3294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400050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07483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114300" indent="-114300" algn="l" defTabSz="914400" rtl="0" eaLnBrk="1" latinLnBrk="0" hangingPunct="1">
      <a:spcBef>
        <a:spcPts val="800"/>
      </a:spcBef>
      <a:buFont typeface="Arial" pitchFamily="34" charset="0"/>
      <a:buChar char="•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285750" indent="-112713" algn="l" defTabSz="914400" rtl="0" eaLnBrk="1" latinLnBrk="0" hangingPunct="1">
      <a:spcBef>
        <a:spcPts val="200"/>
      </a:spcBef>
      <a:buFont typeface="Arial" pitchFamily="34" charset="0"/>
      <a:buChar char="•"/>
      <a:defRPr sz="11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403225" indent="-117475" algn="l" defTabSz="914400" rtl="0" eaLnBrk="1" latinLnBrk="0" hangingPunct="1">
      <a:spcBef>
        <a:spcPts val="200"/>
      </a:spcBef>
      <a:buFont typeface="Arial" pitchFamily="34" charset="0"/>
      <a:buChar char="•"/>
      <a:defRPr sz="105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569913" indent="-112713" algn="l" defTabSz="914400" rtl="0" eaLnBrk="1" latinLnBrk="0" hangingPunct="1">
      <a:spcBef>
        <a:spcPts val="200"/>
      </a:spcBef>
      <a:buFont typeface="Arial" pitchFamily="34" charset="0"/>
      <a:buChar char="•"/>
      <a:defRPr sz="105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457200" indent="114300" algn="l" defTabSz="914400" rtl="0" eaLnBrk="1" latinLnBrk="0" hangingPunct="1">
      <a:buFont typeface="Arial" pitchFamily="34" charset="0"/>
      <a:buChar char="•"/>
      <a:defRPr sz="1050" kern="1200">
        <a:solidFill>
          <a:schemeClr val="tx1"/>
        </a:solidFill>
        <a:latin typeface="+mn-lt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12750" y="400050"/>
            <a:ext cx="6197600" cy="348615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309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9993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19846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7490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7224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93362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7521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9437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77497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06825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84103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2638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20426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7731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auto">
          <a:xfrm>
            <a:off x="0" y="0"/>
            <a:ext cx="9143999" cy="5143500"/>
          </a:xfrm>
          <a:prstGeom prst="rect">
            <a:avLst/>
          </a:prstGeom>
          <a:solidFill>
            <a:srgbClr val="005094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5" name="Title 34"/>
          <p:cNvSpPr>
            <a:spLocks noGrp="1"/>
          </p:cNvSpPr>
          <p:nvPr>
            <p:ph type="title" hasCustomPrompt="1"/>
          </p:nvPr>
        </p:nvSpPr>
        <p:spPr>
          <a:xfrm>
            <a:off x="1039439" y="2180420"/>
            <a:ext cx="7069512" cy="517065"/>
          </a:xfrm>
        </p:spPr>
        <p:txBody>
          <a:bodyPr vert="horz" wrap="square" lIns="0" tIns="0" rIns="0" bIns="45720" rtlCol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Presentation Title Here</a:t>
            </a:r>
          </a:p>
        </p:txBody>
      </p:sp>
      <p:sp>
        <p:nvSpPr>
          <p:cNvPr id="3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39438" y="2685678"/>
            <a:ext cx="7069512" cy="380873"/>
          </a:xfrm>
        </p:spPr>
        <p:txBody>
          <a:bodyPr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None/>
              <a:defRPr sz="2600" i="0" spc="0" baseline="0">
                <a:solidFill>
                  <a:schemeClr val="bg1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75000"/>
              </a:lnSpc>
              <a:spcBef>
                <a:spcPts val="1400"/>
              </a:spcBef>
              <a:buFont typeface="Arial" pitchFamily="34" charset="0"/>
              <a:buNone/>
            </a:pPr>
            <a:r>
              <a:rPr lang="en-US" dirty="0"/>
              <a:t>Subtitle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036637" y="3311968"/>
            <a:ext cx="7072313" cy="872001"/>
          </a:xfrm>
        </p:spPr>
        <p:txBody>
          <a:bodyPr vert="horz" wrap="square" lIns="0" tIns="0" rIns="0" bIns="45720" rtlCol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lang="en-US" sz="1800" i="0" baseline="0" dirty="0" smtClean="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n-US" sz="1800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 dirty="0"/>
              <a:t>Presenter’s Name</a:t>
            </a:r>
          </a:p>
          <a:p>
            <a:pPr marL="0" lvl="0"/>
            <a:r>
              <a:rPr lang="en-US" dirty="0"/>
              <a:t>Department Name</a:t>
            </a:r>
          </a:p>
          <a:p>
            <a:pPr marL="0" lvl="0"/>
            <a:r>
              <a:rPr lang="en-US" dirty="0"/>
              <a:t>Presentation Date</a:t>
            </a:r>
          </a:p>
        </p:txBody>
      </p:sp>
      <p:pic>
        <p:nvPicPr>
          <p:cNvPr id="4" name="Picture 3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22ECB0BC-81E2-7657-ED1B-DEB6D4FDB0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0477" y="355946"/>
            <a:ext cx="3535363" cy="81497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8D56BE9-ED9B-1FEE-F84B-DA5E5E0CB59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569620" y="-63500"/>
            <a:ext cx="4725076" cy="5256000"/>
          </a:xfrm>
          <a:prstGeom prst="rect">
            <a:avLst/>
          </a:prstGeom>
          <a:blipFill dpi="0" rotWithShape="1">
            <a:blip r:embed="rId3">
              <a:alphaModFix amt="17000"/>
            </a:blip>
            <a:srcRect/>
            <a:stretch>
              <a:fillRect/>
            </a:stretch>
          </a:blip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IN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Slide Number Placeholder 10">
            <a:extLst>
              <a:ext uri="{FF2B5EF4-FFF2-40B4-BE49-F238E27FC236}">
                <a16:creationId xmlns:a16="http://schemas.microsoft.com/office/drawing/2014/main" id="{F92A8D1A-8087-B713-B792-1196676E81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4861680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1032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197430"/>
            <a:ext cx="8349916" cy="3413072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lang="en-US" sz="2100" b="0" kern="1200" dirty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5pPr>
          </a:lstStyle>
          <a:p>
            <a:pPr lvl="0"/>
            <a:r>
              <a:rPr lang="en-US" dirty="0"/>
              <a:t>Click to edit Master text styles Arial 21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F5B61543-7882-6964-E3B2-96834DF582B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762" y="691628"/>
            <a:ext cx="8349916" cy="391296"/>
          </a:xfrm>
        </p:spPr>
        <p:txBody>
          <a:bodyPr/>
          <a:lstStyle>
            <a:lvl1pPr marL="0" indent="0">
              <a:buNone/>
              <a:defRPr sz="2400" b="0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094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Subhead Arial 24 pt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B1CD1D-46EF-C274-B1E4-D70331800E0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535503" y="485946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5639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CF311B5-18DE-CC24-B154-2E2E9BBCB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80FBAE2-C3C6-48CA-66CF-D7F40E6E5DF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197430"/>
            <a:ext cx="8349916" cy="3413072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lang="en-US" sz="2100" b="0" kern="1200" dirty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5pPr>
          </a:lstStyle>
          <a:p>
            <a:pPr lvl="0"/>
            <a:r>
              <a:rPr lang="en-US" dirty="0"/>
              <a:t>Click to edit Master text styles Arial 21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280BC2AA-5EE6-7B52-BA8C-83089B779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5503" y="4831733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08115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143000"/>
            <a:ext cx="4129238" cy="3467501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01E633-FAA4-F7B4-3893-A1FFB20A9C4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19587" y="1143000"/>
            <a:ext cx="4073090" cy="3467500"/>
          </a:xfrm>
        </p:spPr>
        <p:txBody>
          <a:bodyPr/>
          <a:lstStyle>
            <a:lvl1pPr marL="177800" indent="-177800">
              <a:buClr>
                <a:srgbClr val="005094"/>
              </a:buClr>
              <a:buFont typeface="Wingdings" panose="05000000000000000000" pitchFamily="2" charset="2"/>
              <a:buChar char="§"/>
              <a:defRPr lang="en-US" sz="1800" b="0" kern="120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827E89-9151-3A74-8245-090B5BDB5693}"/>
              </a:ext>
            </a:extLst>
          </p:cNvPr>
          <p:cNvCxnSpPr>
            <a:cxnSpLocks/>
          </p:cNvCxnSpPr>
          <p:nvPr userDrawn="1"/>
        </p:nvCxnSpPr>
        <p:spPr>
          <a:xfrm>
            <a:off x="4648200" y="1143000"/>
            <a:ext cx="0" cy="346750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3FA46726-0B7D-512C-7067-C9740C6A2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10">
            <a:extLst>
              <a:ext uri="{FF2B5EF4-FFF2-40B4-BE49-F238E27FC236}">
                <a16:creationId xmlns:a16="http://schemas.microsoft.com/office/drawing/2014/main" id="{9A92129A-0811-4A8A-836A-70F8CEA85E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5502" y="4831733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76945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231900"/>
            <a:ext cx="4073091" cy="3378601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01E633-FAA4-F7B4-3893-A1FFB20A9C4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19587" y="1231899"/>
            <a:ext cx="4073091" cy="3378601"/>
          </a:xfrm>
        </p:spPr>
        <p:txBody>
          <a:bodyPr/>
          <a:lstStyle>
            <a:lvl1pPr marL="177800" indent="-177800">
              <a:buClr>
                <a:srgbClr val="005094"/>
              </a:buClr>
              <a:buFont typeface="Wingdings" panose="05000000000000000000" pitchFamily="2" charset="2"/>
              <a:buChar char="§"/>
              <a:defRPr lang="en-US" sz="1800" b="0" kern="120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A16F23-89BB-6D08-1419-74F0F035C8BE}"/>
              </a:ext>
            </a:extLst>
          </p:cNvPr>
          <p:cNvCxnSpPr>
            <a:cxnSpLocks/>
          </p:cNvCxnSpPr>
          <p:nvPr userDrawn="1"/>
        </p:nvCxnSpPr>
        <p:spPr>
          <a:xfrm>
            <a:off x="4615542" y="811374"/>
            <a:ext cx="0" cy="3799126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95CB157-652B-FD48-276D-25DEB55BE62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26793" y="485977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4624EA4-4987-93B2-9F41-13E6B95F1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812373A8-F430-2AB4-654C-8FAFF8BC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2762" y="691628"/>
            <a:ext cx="4068736" cy="391296"/>
          </a:xfrm>
        </p:spPr>
        <p:txBody>
          <a:bodyPr/>
          <a:lstStyle>
            <a:lvl1pPr marL="0" indent="0">
              <a:buNone/>
              <a:defRPr sz="2400" b="0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094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Subhead Arial 24 pt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C3B0951-F521-1E5E-E4BC-A9A329C087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5232" y="691628"/>
            <a:ext cx="4068736" cy="391296"/>
          </a:xfrm>
        </p:spPr>
        <p:txBody>
          <a:bodyPr/>
          <a:lstStyle>
            <a:lvl1pPr marL="0" indent="0">
              <a:buNone/>
              <a:defRPr sz="2400" b="0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094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Subhead Arial 24 pt</a:t>
            </a:r>
          </a:p>
        </p:txBody>
      </p:sp>
    </p:spTree>
    <p:extLst>
      <p:ext uri="{BB962C8B-B14F-4D97-AF65-F5344CB8AC3E}">
        <p14:creationId xmlns:p14="http://schemas.microsoft.com/office/powerpoint/2010/main" val="9251189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46C6F62-ED0F-2FA7-A0A0-9AE79283E8FF}"/>
              </a:ext>
            </a:extLst>
          </p:cNvPr>
          <p:cNvSpPr/>
          <p:nvPr userDrawn="1"/>
        </p:nvSpPr>
        <p:spPr bwMode="auto">
          <a:xfrm>
            <a:off x="4719588" y="1143000"/>
            <a:ext cx="4073090" cy="36766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IN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143000"/>
            <a:ext cx="4129238" cy="3467501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01E633-FAA4-F7B4-3893-A1FFB20A9C4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19587" y="1143000"/>
            <a:ext cx="4073090" cy="3467500"/>
          </a:xfrm>
        </p:spPr>
        <p:txBody>
          <a:bodyPr/>
          <a:lstStyle>
            <a:lvl1pPr marL="177800" indent="-177800">
              <a:buClr>
                <a:srgbClr val="005094"/>
              </a:buClr>
              <a:buFont typeface="Wingdings" panose="05000000000000000000" pitchFamily="2" charset="2"/>
              <a:buChar char="§"/>
              <a:defRPr lang="en-US" sz="1800" b="0" kern="120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827E89-9151-3A74-8245-090B5BDB5693}"/>
              </a:ext>
            </a:extLst>
          </p:cNvPr>
          <p:cNvCxnSpPr>
            <a:cxnSpLocks/>
          </p:cNvCxnSpPr>
          <p:nvPr userDrawn="1"/>
        </p:nvCxnSpPr>
        <p:spPr>
          <a:xfrm>
            <a:off x="4648200" y="1143000"/>
            <a:ext cx="0" cy="346750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3FA46726-0B7D-512C-7067-C9740C6A2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33CB75A5-C7CB-2DB8-4C55-16FC38CE16D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35502" y="483173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1494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FF3B42D-C50E-33BB-B7E9-3C8F2C8CDE29}"/>
              </a:ext>
            </a:extLst>
          </p:cNvPr>
          <p:cNvSpPr/>
          <p:nvPr userDrawn="1"/>
        </p:nvSpPr>
        <p:spPr bwMode="auto">
          <a:xfrm>
            <a:off x="442761" y="1143000"/>
            <a:ext cx="8349917" cy="36703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IN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F23D3D4-9F97-9AAC-983C-389847374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42761" y="1143000"/>
            <a:ext cx="8349916" cy="3467500"/>
          </a:xfrm>
        </p:spPr>
        <p:txBody>
          <a:bodyPr/>
          <a:lstStyle>
            <a:lvl1pPr marL="177800" indent="-177800">
              <a:buClr>
                <a:srgbClr val="005094"/>
              </a:buClr>
              <a:buFont typeface="Wingdings" panose="05000000000000000000" pitchFamily="2" charset="2"/>
              <a:buChar char="§"/>
              <a:defRPr lang="en-US" sz="1800" b="0" kern="120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1237F"/>
              </a:buClr>
              <a:buSzTx/>
              <a:buFontTx/>
              <a:buNone/>
              <a:tabLst/>
              <a:defRPr/>
            </a:pPr>
            <a:r>
              <a:rPr lang="en-US" dirty="0"/>
              <a:t>Subhead Arial 21 pt</a:t>
            </a:r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1237F"/>
              </a:buClr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18EDF24D-2644-DA9D-EFD0-4B9BBBE373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5502" y="483173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300C8CE-3F16-A12B-7A24-DA8017CA8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2964950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52B372A-77B5-31B3-E290-AB03B8680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29FCD054-2ACB-3400-A961-62B89EF0092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35503" y="483173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09040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550F4DCF-0EC0-663F-41C6-AC6F61393C5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35503" y="483173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36639" y="998545"/>
            <a:ext cx="7072312" cy="2169825"/>
          </a:xfrm>
        </p:spPr>
        <p:txBody>
          <a:bodyPr vert="horz" wrap="square" lIns="91440" tIns="45720" rIns="91440" bIns="45720" rtlCol="0" anchor="b" anchorCtr="0">
            <a:spAutoFit/>
          </a:bodyPr>
          <a:lstStyle>
            <a:lvl1pPr marL="280988" indent="-91440">
              <a:lnSpc>
                <a:spcPct val="90000"/>
              </a:lnSpc>
              <a:defRPr lang="en-US" sz="3000" kern="2200" spc="0" baseline="0" dirty="0">
                <a:latin typeface="+mn-lt"/>
              </a:defRPr>
            </a:lvl1pPr>
          </a:lstStyle>
          <a:p>
            <a:pPr lvl="0"/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, semper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ipsum mi, ac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dolor.”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036637" y="3383309"/>
            <a:ext cx="7072313" cy="541425"/>
          </a:xfrm>
        </p:spPr>
        <p:txBody>
          <a:bodyPr vert="horz" wrap="square" lIns="91440" tIns="45720" rIns="91440" bIns="45720" rtlCol="0">
            <a:noAutofit/>
          </a:bodyPr>
          <a:lstStyle>
            <a:lvl1pPr marL="0" indent="0" algn="r">
              <a:spcBef>
                <a:spcPts val="300"/>
              </a:spcBef>
              <a:buNone/>
              <a:defRPr lang="en-US" sz="1800" baseline="0" dirty="0" smtClean="0">
                <a:solidFill>
                  <a:srgbClr val="525252"/>
                </a:solidFill>
                <a:latin typeface="+mn-lt"/>
              </a:defRPr>
            </a:lvl1pPr>
            <a:lvl2pPr marL="230187" indent="0">
              <a:buNone/>
              <a:defRPr lang="en-US" dirty="0" smtClean="0"/>
            </a:lvl2pPr>
            <a:lvl3pPr marL="515937" indent="0">
              <a:buNone/>
              <a:defRPr lang="en-US" dirty="0" smtClean="0"/>
            </a:lvl3pPr>
            <a:lvl4pPr marL="800100" indent="0">
              <a:buNone/>
              <a:defRPr lang="en-US" dirty="0" smtClean="0"/>
            </a:lvl4pPr>
            <a:lvl5pPr marL="1085850" indent="0">
              <a:buNone/>
              <a:defRPr lang="en-US" dirty="0"/>
            </a:lvl5pPr>
          </a:lstStyle>
          <a:p>
            <a:pPr lvl="0"/>
            <a:r>
              <a:rPr lang="en-US" dirty="0"/>
              <a:t>—Author’s Name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DD649393-7F7F-376A-0550-E4D3CFFD7A9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35503" y="483173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213682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CEE34C1-3461-53B5-31B6-6C5EA7C7518D}"/>
              </a:ext>
            </a:extLst>
          </p:cNvPr>
          <p:cNvSpPr/>
          <p:nvPr userDrawn="1"/>
        </p:nvSpPr>
        <p:spPr bwMode="auto">
          <a:xfrm>
            <a:off x="0" y="0"/>
            <a:ext cx="9143999" cy="5143500"/>
          </a:xfrm>
          <a:prstGeom prst="rect">
            <a:avLst/>
          </a:prstGeom>
          <a:solidFill>
            <a:srgbClr val="005094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6" name="Picture 5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3BC0876D-534B-C445-D5AC-3F90E89F50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0477" y="355946"/>
            <a:ext cx="3535363" cy="81497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A8F41F8-F19F-D315-422E-A1602CCDB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637" y="2445200"/>
            <a:ext cx="6950076" cy="517065"/>
          </a:xfrm>
        </p:spPr>
        <p:txBody>
          <a:bodyPr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D7F17-64E9-A89C-A05F-98433E47429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569620" y="-63500"/>
            <a:ext cx="4725076" cy="5256000"/>
          </a:xfrm>
          <a:prstGeom prst="rect">
            <a:avLst/>
          </a:prstGeom>
          <a:blipFill dpi="0" rotWithShape="1">
            <a:blip r:embed="rId3">
              <a:alphaModFix amt="17000"/>
            </a:blip>
            <a:srcRect/>
            <a:stretch>
              <a:fillRect/>
            </a:stretch>
          </a:blip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IN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AF9A6E86-2C50-5A08-8E59-26135CF1280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35503" y="483173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9827374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00509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2525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1112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  <p:extLst>
      <p:ext uri="{BB962C8B-B14F-4D97-AF65-F5344CB8AC3E}">
        <p14:creationId xmlns:p14="http://schemas.microsoft.com/office/powerpoint/2010/main" val="2849722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auto">
          <a:xfrm>
            <a:off x="-2" y="4817444"/>
            <a:ext cx="9143999" cy="326056"/>
          </a:xfrm>
          <a:prstGeom prst="rect">
            <a:avLst/>
          </a:prstGeom>
          <a:gradFill flip="none" rotWithShape="1">
            <a:gsLst>
              <a:gs pos="0">
                <a:srgbClr val="005094"/>
              </a:gs>
              <a:gs pos="50000">
                <a:srgbClr val="005094"/>
              </a:gs>
              <a:gs pos="75000">
                <a:srgbClr val="3A195B"/>
              </a:gs>
            </a:gsLst>
            <a:path path="circle">
              <a:fillToRect l="100000" t="100000"/>
            </a:path>
            <a:tileRect r="-100000" b="-100000"/>
          </a:gra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l">
              <a:lnSpc>
                <a:spcPct val="90000"/>
              </a:lnSpc>
            </a:pPr>
            <a:endParaRPr lang="en-US" sz="120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6638" y="633475"/>
            <a:ext cx="7072312" cy="438582"/>
          </a:xfrm>
          <a:prstGeom prst="rect">
            <a:avLst/>
          </a:prstGeom>
        </p:spPr>
        <p:txBody>
          <a:bodyPr vert="horz" wrap="square" lIns="0" tIns="0" rIns="0" bIns="45720" rtlCol="0" anchor="t" anchorCtr="0">
            <a:spAutoFit/>
          </a:bodyPr>
          <a:lstStyle/>
          <a:p>
            <a:r>
              <a:rPr lang="en-US" dirty="0"/>
              <a:t>Slide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6638" y="1108347"/>
            <a:ext cx="7072312" cy="3171045"/>
          </a:xfrm>
          <a:prstGeom prst="rect">
            <a:avLst/>
          </a:prstGeom>
        </p:spPr>
        <p:txBody>
          <a:bodyPr vert="horz" wrap="square" lIns="0" tIns="0" rIns="0" bIns="45720" rtlCol="0">
            <a:noAutofit/>
          </a:bodyPr>
          <a:lstStyle/>
          <a:p>
            <a:pPr lvl="0"/>
            <a:r>
              <a:rPr lang="en-US" dirty="0"/>
              <a:t>Click to edit bullet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A blue and black logo&#10;&#10;Description automatically generated">
            <a:extLst>
              <a:ext uri="{FF2B5EF4-FFF2-40B4-BE49-F238E27FC236}">
                <a16:creationId xmlns:a16="http://schemas.microsoft.com/office/drawing/2014/main" id="{56EBD2BB-939E-8183-DA57-9EBF0EB8BE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r="74035"/>
          <a:stretch/>
        </p:blipFill>
        <p:spPr>
          <a:xfrm>
            <a:off x="8366780" y="118792"/>
            <a:ext cx="712936" cy="720000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99E92E5-B5F9-59B9-2C09-DCBBBD144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4932002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F8A716-9FA3-C8CF-6294-DA0CD42E76CF}"/>
              </a:ext>
            </a:extLst>
          </p:cNvPr>
          <p:cNvCxnSpPr/>
          <p:nvPr userDrawn="1"/>
        </p:nvCxnSpPr>
        <p:spPr>
          <a:xfrm>
            <a:off x="0" y="1078706"/>
            <a:ext cx="9144000" cy="0"/>
          </a:xfrm>
          <a:prstGeom prst="line">
            <a:avLst/>
          </a:prstGeom>
          <a:ln w="9525">
            <a:solidFill>
              <a:srgbClr val="3A19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4" r:id="rId1"/>
    <p:sldLayoutId id="2147484015" r:id="rId2"/>
    <p:sldLayoutId id="2147484028" r:id="rId3"/>
    <p:sldLayoutId id="2147484023" r:id="rId4"/>
    <p:sldLayoutId id="2147484025" r:id="rId5"/>
    <p:sldLayoutId id="2147484030" r:id="rId6"/>
    <p:sldLayoutId id="2147484029" r:id="rId7"/>
    <p:sldLayoutId id="2147484027" r:id="rId8"/>
    <p:sldLayoutId id="2147483944" r:id="rId9"/>
    <p:sldLayoutId id="2147483940" r:id="rId10"/>
    <p:sldLayoutId id="2147483947" r:id="rId11"/>
    <p:sldLayoutId id="2147484031" r:id="rId12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lang="en-US" sz="3000" b="0" kern="1200" cap="none" spc="0" baseline="0" dirty="0" smtClean="0">
          <a:solidFill>
            <a:srgbClr val="005094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168275" indent="-168275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Wingdings" panose="05000000000000000000" pitchFamily="2" charset="2"/>
        <a:buChar char="§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1pPr>
      <a:lvl2pPr marL="457200" indent="-227013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2pPr>
      <a:lvl3pPr marL="742950" indent="-227013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3pPr>
      <a:lvl4pPr marL="1028700" indent="-228600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4pPr>
      <a:lvl5pPr marL="1312863" indent="-227013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97F3F-9EED-8F52-2E31-5C593DDC3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1</a:t>
            </a:fld>
            <a:endParaRPr lang="en-IN" dirty="0"/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8C1951C4-93AE-4DB7-B5EA-49D22832BB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666" y="1391077"/>
            <a:ext cx="8791510" cy="42434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>
              <a:lnSpc>
                <a:spcPct val="136200"/>
              </a:lnSpc>
              <a:spcBef>
                <a:spcPts val="100"/>
              </a:spcBef>
            </a:pPr>
            <a:r>
              <a:rPr lang="en-IN" sz="22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REVIEW </a:t>
            </a:r>
            <a:r>
              <a:rPr lang="en-IN" sz="2200" spc="-1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IV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174A5FDC-374E-4C44-807E-379B8C1A7C48}"/>
              </a:ext>
            </a:extLst>
          </p:cNvPr>
          <p:cNvSpPr txBox="1"/>
          <p:nvPr/>
        </p:nvSpPr>
        <p:spPr>
          <a:xfrm>
            <a:off x="123666" y="2107982"/>
            <a:ext cx="9052825" cy="355225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GB" sz="22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Smart Attendance and Interactive Learning Ecosystem.</a:t>
            </a:r>
            <a:endParaRPr lang="en-US" sz="2200" spc="-1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1B52336-9937-42CE-9CD3-1A9FFF08020F}"/>
              </a:ext>
            </a:extLst>
          </p:cNvPr>
          <p:cNvSpPr txBox="1"/>
          <p:nvPr/>
        </p:nvSpPr>
        <p:spPr>
          <a:xfrm>
            <a:off x="123666" y="3860550"/>
            <a:ext cx="6933202" cy="1119922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 marR="1725295">
              <a:lnSpc>
                <a:spcPct val="100899"/>
              </a:lnSpc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</a:p>
          <a:p>
            <a:pPr marL="12700" marR="1725295">
              <a:lnSpc>
                <a:spcPct val="100899"/>
              </a:lnSpc>
            </a:pPr>
            <a:r>
              <a:rPr lang="en-US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Tavva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Sandeep Kumar Reddy(</a:t>
            </a:r>
            <a:r>
              <a:rPr lang="en-US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23951A66H0)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12700" marR="1725295">
              <a:lnSpc>
                <a:spcPct val="100899"/>
              </a:lnSpc>
            </a:pPr>
            <a:r>
              <a:rPr lang="en-US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Pavan 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23951A66C0)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12700" marR="1725295">
              <a:lnSpc>
                <a:spcPct val="100899"/>
              </a:lnSpc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Kishore(24955A6651).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FF5F14-B7D7-4625-A8EF-1B0BE817536D}"/>
              </a:ext>
            </a:extLst>
          </p:cNvPr>
          <p:cNvSpPr txBox="1"/>
          <p:nvPr/>
        </p:nvSpPr>
        <p:spPr bwMode="auto">
          <a:xfrm>
            <a:off x="5788180" y="3701244"/>
            <a:ext cx="3388311" cy="1200329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 </a:t>
            </a:r>
          </a:p>
          <a:p>
            <a:r>
              <a:rPr lang="en-GB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Shaik </a:t>
            </a:r>
            <a:r>
              <a:rPr lang="en-GB" spc="-1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Jakeer</a:t>
            </a:r>
            <a:r>
              <a:rPr lang="en-GB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Hussain, Associate Professor</a:t>
            </a:r>
            <a:r>
              <a:rPr lang="en-US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 – (AI &amp; ML).</a:t>
            </a:r>
            <a:endParaRPr lang="en-IN" dirty="0"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951E22A2-205D-43E4-85C7-5AF3D8EA7555}"/>
              </a:ext>
            </a:extLst>
          </p:cNvPr>
          <p:cNvSpPr txBox="1">
            <a:spLocks/>
          </p:cNvSpPr>
          <p:nvPr/>
        </p:nvSpPr>
        <p:spPr>
          <a:xfrm>
            <a:off x="123666" y="3351725"/>
            <a:ext cx="8791510" cy="349519"/>
          </a:xfrm>
          <a:prstGeom prst="rect">
            <a:avLst/>
          </a:prstGeom>
        </p:spPr>
        <p:txBody>
          <a:bodyPr vert="horz" wrap="square" lIns="0" tIns="12700" rIns="0" bIns="0" rtlCol="0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12700" marR="5080">
              <a:lnSpc>
                <a:spcPct val="136200"/>
              </a:lnSpc>
              <a:spcBef>
                <a:spcPts val="100"/>
              </a:spcBef>
            </a:pPr>
            <a:r>
              <a:rPr lang="en-IN" sz="18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NUMBER: 17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96648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48200" y="1143000"/>
            <a:ext cx="0" cy="3467735"/>
          </a:xfrm>
          <a:custGeom>
            <a:avLst/>
            <a:gdLst/>
            <a:ahLst/>
            <a:cxnLst/>
            <a:rect l="l" t="t" r="r" b="b"/>
            <a:pathLst>
              <a:path h="3467735">
                <a:moveTo>
                  <a:pt x="0" y="0"/>
                </a:moveTo>
                <a:lnTo>
                  <a:pt x="0" y="3467493"/>
                </a:lnTo>
              </a:path>
            </a:pathLst>
          </a:custGeom>
          <a:ln w="19050">
            <a:solidFill>
              <a:srgbClr val="005093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3653" y="1071012"/>
            <a:ext cx="4584548" cy="3210494"/>
          </a:xfrm>
          <a:prstGeom prst="rect">
            <a:avLst/>
          </a:prstGeom>
        </p:spPr>
        <p:txBody>
          <a:bodyPr vert="horz" wrap="square" lIns="0" tIns="88265" rIns="0" bIns="0" rtlCol="0" anchor="t">
            <a:spAutoFit/>
          </a:bodyPr>
          <a:lstStyle/>
          <a:p>
            <a:pPr marL="283845" indent="-271145">
              <a:spcBef>
                <a:spcPts val="695"/>
              </a:spcBef>
              <a:buClr>
                <a:srgbClr val="005093"/>
              </a:buClr>
              <a:buFont typeface="Wingdings"/>
              <a:buChar char=""/>
              <a:tabLst>
                <a:tab pos="283845" algn="l"/>
              </a:tabLst>
            </a:pPr>
            <a:r>
              <a:rPr lang="en-US" dirty="0">
                <a:solidFill>
                  <a:srgbClr val="5252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– 4: </a:t>
            </a:r>
          </a:p>
          <a:p>
            <a:pPr marL="755650" lvl="1" indent="-285750">
              <a:spcBef>
                <a:spcPts val="695"/>
              </a:spcBef>
              <a:buClr>
                <a:srgbClr val="005093"/>
              </a:buClr>
              <a:buFont typeface="Arial" panose="020B0604020202020204" pitchFamily="34" charset="0"/>
              <a:buChar char="•"/>
              <a:tabLst>
                <a:tab pos="283845" algn="l"/>
              </a:tabLst>
            </a:pPr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MODELING AND ANALYSIS</a:t>
            </a:r>
          </a:p>
          <a:p>
            <a:pPr marL="755650" lvl="1" indent="-285750">
              <a:spcBef>
                <a:spcPts val="695"/>
              </a:spcBef>
              <a:buClr>
                <a:srgbClr val="005093"/>
              </a:buClr>
              <a:buFont typeface="Arial" panose="020B0604020202020204" pitchFamily="34" charset="0"/>
              <a:buChar char="•"/>
              <a:tabLst>
                <a:tab pos="283845" algn="l"/>
              </a:tabLst>
            </a:pPr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DESIGN</a:t>
            </a:r>
          </a:p>
          <a:p>
            <a:pPr marL="755650" lvl="1" indent="-285750">
              <a:spcBef>
                <a:spcPts val="695"/>
              </a:spcBef>
              <a:buClr>
                <a:srgbClr val="005093"/>
              </a:buClr>
              <a:buFont typeface="Arial" panose="020B0604020202020204" pitchFamily="34" charset="0"/>
              <a:buChar char="•"/>
              <a:tabLst>
                <a:tab pos="283845" algn="l"/>
              </a:tabLst>
            </a:pPr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METHODOLGY IMPLEMENTATION</a:t>
            </a:r>
          </a:p>
          <a:p>
            <a:pPr marL="755650" lvl="1" indent="-285750">
              <a:spcBef>
                <a:spcPts val="695"/>
              </a:spcBef>
              <a:buClr>
                <a:srgbClr val="005093"/>
              </a:buClr>
              <a:buFont typeface="Arial" panose="020B0604020202020204" pitchFamily="34" charset="0"/>
              <a:buChar char="•"/>
              <a:tabLst>
                <a:tab pos="283845" algn="l"/>
              </a:tabLst>
            </a:pPr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CODING / EXPERIMENTAL SETUP</a:t>
            </a:r>
          </a:p>
          <a:p>
            <a:pPr marL="755650" lvl="1" indent="-285750">
              <a:spcBef>
                <a:spcPts val="695"/>
              </a:spcBef>
              <a:buClr>
                <a:srgbClr val="005093"/>
              </a:buClr>
              <a:buFont typeface="Arial" panose="020B0604020202020204" pitchFamily="34" charset="0"/>
              <a:buChar char="•"/>
              <a:tabLst>
                <a:tab pos="283845" algn="l"/>
              </a:tabLst>
            </a:pPr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AND VALIDATION OF PROPOSED WORK</a:t>
            </a:r>
          </a:p>
          <a:p>
            <a:pPr marL="755650" lvl="1" indent="-285750">
              <a:spcBef>
                <a:spcPts val="695"/>
              </a:spcBef>
              <a:buClr>
                <a:srgbClr val="005093"/>
              </a:buClr>
              <a:buFont typeface="Arial" panose="020B0604020202020204" pitchFamily="34" charset="0"/>
              <a:buChar char="•"/>
              <a:tabLst>
                <a:tab pos="283845" algn="l"/>
              </a:tabLst>
            </a:pPr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PHASE - 3</a:t>
            </a:r>
          </a:p>
          <a:p>
            <a:pPr marL="469900" lvl="1">
              <a:spcBef>
                <a:spcPts val="695"/>
              </a:spcBef>
              <a:buClr>
                <a:srgbClr val="005093"/>
              </a:buClr>
              <a:tabLst>
                <a:tab pos="283845" algn="l"/>
              </a:tabLst>
            </a:pPr>
            <a:endParaRPr lang="en-US" dirty="0">
              <a:solidFill>
                <a:schemeClr val="accent5"/>
              </a:solidFill>
              <a:latin typeface="Arial MT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3653" y="372218"/>
            <a:ext cx="7072312" cy="475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0600" y="1143000"/>
            <a:ext cx="3495675" cy="3467100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676E399F-55E0-4BDB-951D-6A5B065C3946}"/>
              </a:ext>
            </a:extLst>
          </p:cNvPr>
          <p:cNvSpPr txBox="1">
            <a:spLocks/>
          </p:cNvSpPr>
          <p:nvPr/>
        </p:nvSpPr>
        <p:spPr>
          <a:xfrm>
            <a:off x="8629650" y="4817444"/>
            <a:ext cx="514350" cy="32605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B327F5A-7D8F-4012-9A1A-2197D74A174F}" type="slidenum">
              <a:rPr lang="en-IN" sz="1200" smtClean="0">
                <a:solidFill>
                  <a:schemeClr val="bg1"/>
                </a:solidFill>
              </a:rPr>
              <a:pPr algn="r"/>
              <a:t>2</a:t>
            </a:fld>
            <a:endParaRPr lang="en-IN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BE30EA-17F1-4C88-1666-C76A08009D0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523BC59-FDD6-4254-A4EC-89541F3B39F4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IN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Modeling and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25DC2DD-1848-7322-E2DB-85BA94F1490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0" y="1179724"/>
            <a:ext cx="9147535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automate institutional attendance through seamless QR scanning and Natural Language Processing.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gamify student performance via a real-time coding score leaderboard.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tiered administrative control for records and scheduling.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Modeling Approach: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Hybrid System combining: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NLP Engine: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parsing unstructured faculty text commands into structured attendance logs.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Engine: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processing coding scores and attendance percentages into actionable insights.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Rule-Based Logic: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enforcing institutional policies (e.g., attendance thresholds, secure credential resets).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90979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BE30EA-17F1-4C88-1666-C76A08009D0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523BC59-FDD6-4254-A4EC-89541F3B39F4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IN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Modeling and Analysis (</a:t>
            </a:r>
            <a:r>
              <a:rPr lang="en-IN" spc="-3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r>
              <a:rPr lang="en-IN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F08019-E47C-74EE-38CB-803BEE614306}"/>
              </a:ext>
            </a:extLst>
          </p:cNvPr>
          <p:cNvSpPr txBox="1"/>
          <p:nvPr/>
        </p:nvSpPr>
        <p:spPr bwMode="auto">
          <a:xfrm>
            <a:off x="250962" y="1294477"/>
            <a:ext cx="7978637" cy="2800767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(Inputs) Considered:</a:t>
            </a:r>
          </a:p>
          <a:p>
            <a:pPr>
              <a:buNone/>
            </a:pPr>
            <a:endParaRPr lang="en-GB" sz="16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Metadata:</a:t>
            </a:r>
            <a:r>
              <a:rPr lang="en-GB" sz="1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Student Roll No, Faculty ID, Admin Credentials.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Attendance Inputs:</a:t>
            </a:r>
            <a:r>
              <a:rPr lang="en-GB" sz="1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QR Time-stamps, Manual Roll Call entries, NLP text strings (e.g., </a:t>
            </a:r>
            <a:r>
              <a:rPr lang="en-GB" sz="1600" i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"Roll 45 is absent"</a:t>
            </a:r>
            <a:r>
              <a:rPr lang="en-GB" sz="1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Data:</a:t>
            </a:r>
            <a:r>
              <a:rPr lang="en-GB" sz="1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Daily coding scores (integrated from internal/external platforms).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Schedules:</a:t>
            </a:r>
            <a:r>
              <a:rPr lang="en-GB" sz="1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Master Timetable slots, Subject codes, and Room assignments.</a:t>
            </a:r>
          </a:p>
        </p:txBody>
      </p:sp>
    </p:spTree>
    <p:extLst>
      <p:ext uri="{BB962C8B-B14F-4D97-AF65-F5344CB8AC3E}">
        <p14:creationId xmlns:p14="http://schemas.microsoft.com/office/powerpoint/2010/main" val="241124686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BE30EA-17F1-4C88-1666-C76A08009D0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523BC59-FDD6-4254-A4EC-89541F3B39F4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IN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Modeling and Analysis (</a:t>
            </a:r>
            <a:r>
              <a:rPr lang="en-IN" spc="-3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r>
              <a:rPr lang="en-IN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261D5E-CFA0-D343-2F93-5B9A85E4D79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58417" y="1194820"/>
            <a:ext cx="888558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 Outputs: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Attendance Status: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Structured daily logs (Present/Absent).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Engagement Metrics: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Student Rank on Leaderboard, Attendance Analysis Reports.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Administrative Actions: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Modified Timetables, Reset Login Credentials, Generated Class Reports.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Rationale: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reduces manual friction for faculty.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Gamification (Leaderboards)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drives student technical competency.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Admin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ensures data integrity and high-level oversight.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56062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BE30EA-17F1-4C88-1666-C76A08009D0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523BC59-FDD6-4254-A4EC-89541F3B39F4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IN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Design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1890965-E6F6-0684-442E-64BD16C8BBA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6039" y="1062570"/>
            <a:ext cx="9077961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Logic: Intent Recognition &amp; Entity Extraction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use NLP for Attendance?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UIs require multiple clicks per student.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NLP allows faculty to type a single sentence to mark outliers (absentees), while the system assumes the rest are present (Efficiency).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Tokenization: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Breaking down text (e.g.,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"Roll 12, 14, and 20 are absent today"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Entity Extraction: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Identifying specific Roll Numbers (12, 14, 20).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Intent Mapping: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Mapping the keyword "absent" to the database update function status=0.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0430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BE30EA-17F1-4C88-1666-C76A08009D0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523BC59-FDD6-4254-A4EC-89541F3B39F4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IN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Design (</a:t>
            </a:r>
            <a:r>
              <a:rPr lang="en-IN" spc="-3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r>
              <a:rPr lang="en-IN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82B084A-D67A-FE8C-D4C7-A970DE469CC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49087" y="1168999"/>
            <a:ext cx="884582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 Names Used in the Project: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Sorting &amp; Ranking Algorithm: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the live leaderboard (using weighted averages of coding scores).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calculating attendance percentages and identifying "At-Risk" students (below 75%).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 Roles: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 Logic: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SQL/NoSQL Aggregation.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Analysis Model: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Descriptive statistics for Faculty reports.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NLP Model: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String parsing for chatbot interactions.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23319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BE30EA-17F1-4C88-1666-C76A08009D0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523BC59-FDD6-4254-A4EC-89541F3B39F4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IN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implementation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8756FC-91E9-0694-35C9-F3F787193BD9}"/>
              </a:ext>
            </a:extLst>
          </p:cNvPr>
          <p:cNvSpPr txBox="1"/>
          <p:nvPr/>
        </p:nvSpPr>
        <p:spPr bwMode="auto">
          <a:xfrm>
            <a:off x="198783" y="1278014"/>
            <a:ext cx="8229600" cy="353943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sz="1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Methodology:</a:t>
            </a:r>
          </a:p>
          <a:p>
            <a:pPr algn="just">
              <a:buNone/>
            </a:pPr>
            <a:endParaRPr lang="en-GB" sz="16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en-GB" sz="1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Setup:</a:t>
            </a:r>
            <a:r>
              <a:rPr lang="en-GB" sz="1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Designing the 3-role hierarchical database (Admin, Faculty, Student).</a:t>
            </a:r>
          </a:p>
          <a:p>
            <a:pPr marL="800100" lvl="1" indent="-342900" algn="just">
              <a:buFont typeface="+mj-lt"/>
              <a:buAutoNum type="arabicPeriod"/>
            </a:pPr>
            <a:endParaRPr lang="en-GB" sz="16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en-GB" sz="1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Attendance Module:</a:t>
            </a:r>
            <a:r>
              <a:rPr lang="en-GB" sz="1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Implementing QR generation, manual logs, and the NLP text-parser.</a:t>
            </a:r>
          </a:p>
          <a:p>
            <a:pPr marL="800100" lvl="1" indent="-342900" algn="just">
              <a:buFont typeface="+mj-lt"/>
              <a:buAutoNum type="arabicPeriod"/>
            </a:pPr>
            <a:endParaRPr lang="en-GB" sz="16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en-GB" sz="1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Engagement Module:</a:t>
            </a:r>
            <a:r>
              <a:rPr lang="en-GB" sz="1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Building the Coding Score aggregator and Leaderboard UI.</a:t>
            </a:r>
          </a:p>
          <a:p>
            <a:pPr marL="800100" lvl="1" indent="-342900" algn="just">
              <a:buFont typeface="+mj-lt"/>
              <a:buAutoNum type="arabicPeriod"/>
            </a:pPr>
            <a:endParaRPr lang="en-GB" sz="16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en-GB" sz="1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Module:</a:t>
            </a:r>
            <a:r>
              <a:rPr lang="en-GB" sz="1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Creating the Master Timetable and User Management (CRUD) tools.</a:t>
            </a:r>
          </a:p>
          <a:p>
            <a:pPr marL="800100" lvl="1" indent="-342900" algn="just">
              <a:buFont typeface="+mj-lt"/>
              <a:buAutoNum type="arabicPeriod"/>
            </a:pPr>
            <a:endParaRPr lang="en-GB" sz="16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en-GB" sz="1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Analytics Layer:</a:t>
            </a:r>
            <a:r>
              <a:rPr lang="en-GB" sz="1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Developing the class report generation and attendance history views.</a:t>
            </a:r>
          </a:p>
          <a:p>
            <a:pPr marL="800100" lvl="1" indent="-342900" algn="just">
              <a:buFont typeface="+mj-lt"/>
              <a:buAutoNum type="arabicPeriod"/>
            </a:pPr>
            <a:endParaRPr lang="en-GB" sz="16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en-GB" sz="1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Deployment:</a:t>
            </a:r>
            <a:r>
              <a:rPr lang="en-GB" sz="1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Validating data flows across all three roles.</a:t>
            </a:r>
          </a:p>
        </p:txBody>
      </p:sp>
    </p:spTree>
    <p:extLst>
      <p:ext uri="{BB962C8B-B14F-4D97-AF65-F5344CB8AC3E}">
        <p14:creationId xmlns:p14="http://schemas.microsoft.com/office/powerpoint/2010/main" val="101446797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BE30EA-17F1-4C88-1666-C76A08009D0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523BC59-FDD6-4254-A4EC-89541F3B39F4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IN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/ Experimental Setup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8B9F46-A2C3-BA11-7E46-8317AF331CD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6039" y="1247688"/>
            <a:ext cx="8975035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Node.js (Express.js).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React.js (for role-specific dashboards).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MongoDB (for flexible JSON-based user/log storage).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NLP Tools: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Compromised NLP service or custom Regex-based parser for attendance commands.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Libraries: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qrcode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(for student profiles),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jsonwebtoken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(for secure role-based auth), mongoose (DB modeling),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(API integration).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87039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BE30EA-17F1-4C88-1666-C76A08009D0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10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523BC59-FDD6-4254-A4EC-89541F3B39F4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US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&amp; Validation</a:t>
            </a:r>
            <a:endParaRPr lang="en-IN" spc="-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90CEFB0-2416-560E-9BC5-58746F46B1F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6039" y="1276799"/>
            <a:ext cx="8706678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Verification: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 execution of NLP parsing for multiple text variations.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synchronization of the Master Timetable across Admin, Faculty, and Student views.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Validation: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Leaderboard correctly reflects changes in coding scores instantly.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(RBAC) ensures a Student cannot access Admin reports or Faculty reset tools.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61040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BE30EA-17F1-4C88-1666-C76A08009D0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11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523BC59-FDD6-4254-A4EC-89541F3B39F4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IN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 Phase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693DDB6-E8C5-1646-5A3C-86EE253F637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6039" y="1245533"/>
            <a:ext cx="8734096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Goal: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Integrating the NLP chatbot and Ranking logic into a live Web Application.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(React):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Role-specific dashboards with Today's Schedule and Attendance Analysis graphs.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(Node.js):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Handles the high-speed processing of attendance scans and text commands.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Flow: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(Faculty) inputs text </a:t>
            </a:r>
            <a:r>
              <a:rPr lang="en-US" altLang="en-US" sz="16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NLP Engine parses data 	API updates MongoDB 		Student Dashboard refreshes instantly via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/Hooks.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FA4FBB4-E0D7-0C91-0B14-F156041B982B}"/>
              </a:ext>
            </a:extLst>
          </p:cNvPr>
          <p:cNvCxnSpPr>
            <a:cxnSpLocks/>
          </p:cNvCxnSpPr>
          <p:nvPr/>
        </p:nvCxnSpPr>
        <p:spPr>
          <a:xfrm>
            <a:off x="3041375" y="3597965"/>
            <a:ext cx="6460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DF5FA9B-4BBC-85EC-DDC5-8DA0FFABBC0F}"/>
              </a:ext>
            </a:extLst>
          </p:cNvPr>
          <p:cNvCxnSpPr>
            <a:cxnSpLocks/>
          </p:cNvCxnSpPr>
          <p:nvPr/>
        </p:nvCxnSpPr>
        <p:spPr>
          <a:xfrm>
            <a:off x="5837583" y="3597965"/>
            <a:ext cx="6460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91778B8-EB0A-5F17-C526-A0F64B19DE75}"/>
              </a:ext>
            </a:extLst>
          </p:cNvPr>
          <p:cNvCxnSpPr>
            <a:cxnSpLocks/>
          </p:cNvCxnSpPr>
          <p:nvPr/>
        </p:nvCxnSpPr>
        <p:spPr>
          <a:xfrm>
            <a:off x="1225828" y="3859695"/>
            <a:ext cx="6460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92130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BE30EA-17F1-4C88-1666-C76A08009D0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12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523BC59-FDD6-4254-A4EC-89541F3B39F4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IN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clarifications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E46FF32-34F3-4455-7EF3-9F12ADDA636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6039" y="1294477"/>
            <a:ext cx="856361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not purely ML?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Institutional systems require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accuracy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(100% correct attendance logs); NLP provides flexible entry while Rule-Based logic ensures data reliability.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NLP over Buttons: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 chose NLP to simulate a natural conversation between Faculty and the system, reducing administrative "click-fatigue.“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Leaderboard Impact: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This serves as a "Learning Analytics" tool to foster healthy competition among students.</a:t>
            </a:r>
          </a:p>
        </p:txBody>
      </p:sp>
    </p:spTree>
    <p:extLst>
      <p:ext uri="{BB962C8B-B14F-4D97-AF65-F5344CB8AC3E}">
        <p14:creationId xmlns:p14="http://schemas.microsoft.com/office/powerpoint/2010/main" val="1501734240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BE30EA-17F1-4C88-1666-C76A08009D0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13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523BC59-FDD6-4254-A4EC-89541F3B39F4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IN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F77958-02F1-5040-8706-61E11878718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9513" y="1417588"/>
            <a:ext cx="898497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bridges the gap between administrative monitoring and student engagement.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Combines efficient data entry (QR/NLP) with motivational feedback (Leaderboards).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robust oversight for Administrators to maintain institutional data quality.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Fully tested across all roles and ready for campus deployment.</a:t>
            </a:r>
          </a:p>
        </p:txBody>
      </p:sp>
    </p:spTree>
    <p:extLst>
      <p:ext uri="{BB962C8B-B14F-4D97-AF65-F5344CB8AC3E}">
        <p14:creationId xmlns:p14="http://schemas.microsoft.com/office/powerpoint/2010/main" val="35374845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30849E-F7A6-5ED3-F0DD-CF5FC48A9C6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14</a:t>
            </a:fld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0F41802-39C9-442C-A52E-2BA7B3060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637" y="2445200"/>
            <a:ext cx="6950076" cy="490904"/>
          </a:xfrm>
        </p:spPr>
        <p:txBody>
          <a:bodyPr/>
          <a:lstStyle/>
          <a:p>
            <a:r>
              <a:rPr lang="en-GB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34017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MC Powerpoint Template">
  <a:themeElements>
    <a:clrScheme name="Custom 1">
      <a:dk1>
        <a:srgbClr val="005094"/>
      </a:dk1>
      <a:lt1>
        <a:srgbClr val="FFFFFF"/>
      </a:lt1>
      <a:dk2>
        <a:srgbClr val="FFFFFF"/>
      </a:dk2>
      <a:lt2>
        <a:srgbClr val="FFFFFF"/>
      </a:lt2>
      <a:accent1>
        <a:srgbClr val="005094"/>
      </a:accent1>
      <a:accent2>
        <a:srgbClr val="525252"/>
      </a:accent2>
      <a:accent3>
        <a:srgbClr val="525252"/>
      </a:accent3>
      <a:accent4>
        <a:srgbClr val="005094"/>
      </a:accent4>
      <a:accent5>
        <a:srgbClr val="525252"/>
      </a:accent5>
      <a:accent6>
        <a:srgbClr val="005094"/>
      </a:accent6>
      <a:hlink>
        <a:srgbClr val="525252"/>
      </a:hlink>
      <a:folHlink>
        <a:srgbClr val="005094"/>
      </a:folHlink>
    </a:clrScheme>
    <a:fontScheme name="Montgomery College 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51237F"/>
        </a:solidFill>
        <a:ln w="19050" algn="ctr">
          <a:noFill/>
          <a:miter lim="800000"/>
          <a:headEnd/>
          <a:tailEnd/>
        </a:ln>
      </a:spPr>
      <a:bodyPr wrap="none" rtlCol="0" anchor="ctr"/>
      <a:lstStyle>
        <a:defPPr algn="ctr">
          <a:lnSpc>
            <a:spcPct val="90000"/>
          </a:lnSpc>
          <a:defRPr sz="1600" b="1" dirty="0" err="1" smtClean="0">
            <a:solidFill>
              <a:schemeClr val="bg1"/>
            </a:solidFill>
            <a:latin typeface="+mj-lt"/>
          </a:defRPr>
        </a:defPPr>
      </a:lstStyle>
    </a:spDef>
    <a:lnDef>
      <a:spPr>
        <a:ln w="2857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19050" algn="ctr">
          <a:noFill/>
          <a:miter lim="800000"/>
          <a:headEnd/>
          <a:tailEnd/>
        </a:ln>
      </a:spPr>
      <a:bodyPr wrap="square" lIns="0" tIns="0" rIns="0" bIns="0" rtlCol="0">
        <a:spAutoFit/>
      </a:bodyPr>
      <a:lstStyle>
        <a:defPPr>
          <a:defRPr sz="20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Coalesse Palette">
      <a:dk1>
        <a:sysClr val="windowText" lastClr="000000"/>
      </a:dk1>
      <a:lt1>
        <a:sysClr val="window" lastClr="FFFFFF"/>
      </a:lt1>
      <a:dk2>
        <a:srgbClr val="342B2A"/>
      </a:dk2>
      <a:lt2>
        <a:srgbClr val="DAD6CB"/>
      </a:lt2>
      <a:accent1>
        <a:srgbClr val="E55302"/>
      </a:accent1>
      <a:accent2>
        <a:srgbClr val="5F3032"/>
      </a:accent2>
      <a:accent3>
        <a:srgbClr val="005774"/>
      </a:accent3>
      <a:accent4>
        <a:srgbClr val="9BA03C"/>
      </a:accent4>
      <a:accent5>
        <a:srgbClr val="34AA71"/>
      </a:accent5>
      <a:accent6>
        <a:srgbClr val="F3BD48"/>
      </a:accent6>
      <a:hlink>
        <a:srgbClr val="34AA71"/>
      </a:hlink>
      <a:folHlink>
        <a:srgbClr val="8C8C8C"/>
      </a:folHlink>
    </a:clrScheme>
    <a:fontScheme name="Coalesse">
      <a:majorFont>
        <a:latin typeface="Arial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alesse Palette">
      <a:dk1>
        <a:sysClr val="windowText" lastClr="000000"/>
      </a:dk1>
      <a:lt1>
        <a:sysClr val="window" lastClr="FFFFFF"/>
      </a:lt1>
      <a:dk2>
        <a:srgbClr val="342B2A"/>
      </a:dk2>
      <a:lt2>
        <a:srgbClr val="DAD6CB"/>
      </a:lt2>
      <a:accent1>
        <a:srgbClr val="E55302"/>
      </a:accent1>
      <a:accent2>
        <a:srgbClr val="5F3032"/>
      </a:accent2>
      <a:accent3>
        <a:srgbClr val="005774"/>
      </a:accent3>
      <a:accent4>
        <a:srgbClr val="9BA03C"/>
      </a:accent4>
      <a:accent5>
        <a:srgbClr val="34AA71"/>
      </a:accent5>
      <a:accent6>
        <a:srgbClr val="F3BD48"/>
      </a:accent6>
      <a:hlink>
        <a:srgbClr val="34AA71"/>
      </a:hlink>
      <a:folHlink>
        <a:srgbClr val="8C8C8C"/>
      </a:folHlink>
    </a:clrScheme>
    <a:fontScheme name="Coalesse">
      <a:majorFont>
        <a:latin typeface="Arial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951</Words>
  <Application>Microsoft Office PowerPoint</Application>
  <PresentationFormat>On-screen Show (16:9)</PresentationFormat>
  <Paragraphs>164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Wingdings</vt:lpstr>
      <vt:lpstr>Garamond</vt:lpstr>
      <vt:lpstr>Arial MT</vt:lpstr>
      <vt:lpstr>Times New Roman</vt:lpstr>
      <vt:lpstr>MC Powerpoint Template</vt:lpstr>
      <vt:lpstr>CAPSTONE PROJECT REVIEW - IV</vt:lpstr>
      <vt:lpstr>Contents of the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2016-09-09T13:34:50Z</dcterms:created>
  <dcterms:modified xsi:type="dcterms:W3CDTF">2025-12-22T14:52:37Z</dcterms:modified>
</cp:coreProperties>
</file>