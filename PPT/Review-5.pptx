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autoCompressPictures="0">
  <p:sldMasterIdLst>
    <p:sldMasterId id="2147483932" r:id="rId1"/>
  </p:sldMasterIdLst>
  <p:notesMasterIdLst>
    <p:notesMasterId r:id="rId13"/>
  </p:notesMasterIdLst>
  <p:handoutMasterIdLst>
    <p:handoutMasterId r:id="rId14"/>
  </p:handoutMasterIdLst>
  <p:sldIdLst>
    <p:sldId id="567" r:id="rId2"/>
    <p:sldId id="257" r:id="rId3"/>
    <p:sldId id="537" r:id="rId4"/>
    <p:sldId id="587" r:id="rId5"/>
    <p:sldId id="549" r:id="rId6"/>
    <p:sldId id="580" r:id="rId7"/>
    <p:sldId id="588" r:id="rId8"/>
    <p:sldId id="583" r:id="rId9"/>
    <p:sldId id="589" r:id="rId10"/>
    <p:sldId id="566" r:id="rId11"/>
    <p:sldId id="514" r:id="rId12"/>
  </p:sldIdLst>
  <p:sldSz cx="9144000" cy="5143500" type="screen16x9"/>
  <p:notesSz cx="6858000" cy="9296400"/>
  <p:embeddedFontLst>
    <p:embeddedFont>
      <p:font typeface="Garamond" panose="02020404030301010803" pitchFamily="18" charset="0"/>
      <p:regular r:id="rId15"/>
      <p:bold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>
          <p15:clr>
            <a:srgbClr val="A4A3A4"/>
          </p15:clr>
        </p15:guide>
        <p15:guide id="2" orient="horz" pos="325">
          <p15:clr>
            <a:srgbClr val="A4A3A4"/>
          </p15:clr>
        </p15:guide>
        <p15:guide id="3" orient="horz" pos="2917">
          <p15:clr>
            <a:srgbClr val="A4A3A4"/>
          </p15:clr>
        </p15:guide>
        <p15:guide id="4" orient="horz" pos="399">
          <p15:clr>
            <a:srgbClr val="A4A3A4"/>
          </p15:clr>
        </p15:guide>
        <p15:guide id="5" pos="576">
          <p15:clr>
            <a:srgbClr val="A4A3A4"/>
          </p15:clr>
        </p15:guide>
        <p15:guide id="6" pos="5184">
          <p15:clr>
            <a:srgbClr val="A4A3A4"/>
          </p15:clr>
        </p15:guide>
        <p15:guide id="7" pos="2880">
          <p15:clr>
            <a:srgbClr val="A4A3A4"/>
          </p15:clr>
        </p15:guide>
        <p15:guide id="8" pos="5108">
          <p15:clr>
            <a:srgbClr val="A4A3A4"/>
          </p15:clr>
        </p15:guide>
        <p15:guide id="9" pos="6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92">
          <p15:clr>
            <a:srgbClr val="A4A3A4"/>
          </p15:clr>
        </p15:guide>
        <p15:guide id="2" orient="horz" pos="5542">
          <p15:clr>
            <a:srgbClr val="A4A3A4"/>
          </p15:clr>
        </p15:guide>
        <p15:guide id="3" orient="horz" pos="5777">
          <p15:clr>
            <a:srgbClr val="A4A3A4"/>
          </p15:clr>
        </p15:guide>
        <p15:guide id="4" pos="286">
          <p15:clr>
            <a:srgbClr val="A4A3A4"/>
          </p15:clr>
        </p15:guide>
        <p15:guide id="5" pos="40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59596"/>
    <a:srgbClr val="3A195B"/>
    <a:srgbClr val="005094"/>
    <a:srgbClr val="004170"/>
    <a:srgbClr val="F0F1F1"/>
    <a:srgbClr val="004670"/>
    <a:srgbClr val="00468C"/>
    <a:srgbClr val="004D8E"/>
    <a:srgbClr val="145094"/>
    <a:srgbClr val="005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F895D0-4407-4346-81FC-5C17E9F722B7}" v="1" dt="2026-02-17T05:04:48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89011" autoAdjust="0"/>
  </p:normalViewPr>
  <p:slideViewPr>
    <p:cSldViewPr snapToGrid="0" showGuides="1">
      <p:cViewPr varScale="1">
        <p:scale>
          <a:sx n="58" d="100"/>
          <a:sy n="58" d="100"/>
        </p:scale>
        <p:origin x="1428" y="268"/>
      </p:cViewPr>
      <p:guideLst>
        <p:guide orient="horz" pos="2843"/>
        <p:guide orient="horz" pos="325"/>
        <p:guide orient="horz" pos="2917"/>
        <p:guide orient="horz" pos="399"/>
        <p:guide pos="576"/>
        <p:guide pos="5184"/>
        <p:guide pos="2880"/>
        <p:guide pos="5108"/>
        <p:guide pos="653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1" d="100"/>
        <a:sy n="71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-3894" y="-96"/>
      </p:cViewPr>
      <p:guideLst>
        <p:guide orient="horz" pos="2592"/>
        <p:guide orient="horz" pos="5542"/>
        <p:guide orient="horz" pos="5777"/>
        <p:guide pos="286"/>
        <p:guide pos="403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329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40005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7483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14300" indent="-114300" algn="l" defTabSz="914400" rtl="0" eaLnBrk="1" latinLnBrk="0" hangingPunct="1">
      <a:spcBef>
        <a:spcPts val="800"/>
      </a:spcBef>
      <a:buFont typeface="Arial" pitchFamily="34" charset="0"/>
      <a:buChar char="•"/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85750" indent="-112713" algn="l" defTabSz="914400" rtl="0" eaLnBrk="1" latinLnBrk="0" hangingPunct="1">
      <a:spcBef>
        <a:spcPts val="200"/>
      </a:spcBef>
      <a:buFont typeface="Arial" pitchFamily="34" charset="0"/>
      <a:buChar char="•"/>
      <a:defRPr sz="11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03225" indent="-117475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569913" indent="-112713" algn="l" defTabSz="914400" rtl="0" eaLnBrk="1" latinLnBrk="0" hangingPunct="1">
      <a:spcBef>
        <a:spcPts val="200"/>
      </a:spcBef>
      <a:buFont typeface="Arial" pitchFamily="34" charset="0"/>
      <a:buChar char="•"/>
      <a:defRPr sz="105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457200" indent="114300" algn="l" defTabSz="914400" rtl="0" eaLnBrk="1" latinLnBrk="0" hangingPunct="1">
      <a:buFont typeface="Arial" pitchFamily="34" charset="0"/>
      <a:buChar char="•"/>
      <a:defRPr sz="105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2750" y="400050"/>
            <a:ext cx="6197600" cy="348615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0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9993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984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B8A6-01A6-0FE4-F695-93430B8E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1A8D4-5228-2073-77FD-C406E6599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050F8-65AB-219D-AAE6-0815ADC5B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213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224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3CAD9-41CA-36F1-B585-2DB229B73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AE8BB-254E-428F-2BF8-F4EA7A347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2EDE6D-ADD5-FD3A-58E5-62DBFAB8C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489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31708-B6D1-68D9-9A96-AEF90040A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A5A61-3F77-65EA-D449-3E6B4E851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0FA0D-D51B-8F47-C880-B60BBBE3A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58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042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73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0" y="0"/>
            <a:ext cx="9143999" cy="51435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 hasCustomPrompt="1"/>
          </p:nvPr>
        </p:nvSpPr>
        <p:spPr>
          <a:xfrm>
            <a:off x="1039439" y="2180420"/>
            <a:ext cx="7069512" cy="517065"/>
          </a:xfrm>
        </p:spPr>
        <p:txBody>
          <a:bodyPr vert="horz" wrap="square" lIns="0" tIns="0" rIns="0" bIns="45720" rtlCol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Presentation Title Here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39438" y="2685678"/>
            <a:ext cx="7069512" cy="380873"/>
          </a:xfrm>
        </p:spPr>
        <p:txBody>
          <a:bodyPr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2600" i="0" spc="0" baseline="0">
                <a:solidFill>
                  <a:schemeClr val="bg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75000"/>
              </a:lnSpc>
              <a:spcBef>
                <a:spcPts val="1400"/>
              </a:spcBef>
              <a:buFont typeface="Arial" pitchFamily="34" charset="0"/>
              <a:buNone/>
            </a:pPr>
            <a:r>
              <a:rPr lang="en-US" dirty="0"/>
              <a:t>Subtitle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36637" y="3311968"/>
            <a:ext cx="7072313" cy="872001"/>
          </a:xfrm>
        </p:spPr>
        <p:txBody>
          <a:bodyPr vert="horz" wrap="square" lIns="0" tIns="0" rIns="0" bIns="45720" rtlCol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1800" i="0" baseline="0" dirty="0" smtClean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lang="en-US" sz="1800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 dirty="0"/>
              <a:t>Presenter’s Name</a:t>
            </a:r>
          </a:p>
          <a:p>
            <a:pPr marL="0" lvl="0"/>
            <a:r>
              <a:rPr lang="en-US" dirty="0"/>
              <a:t>Department Name</a:t>
            </a:r>
          </a:p>
          <a:p>
            <a:pPr marL="0" lvl="0"/>
            <a:r>
              <a:rPr lang="en-US" dirty="0"/>
              <a:t>Presentation Date</a:t>
            </a:r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2ECB0BC-81E2-7657-ED1B-DEB6D4FDB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477" y="355946"/>
            <a:ext cx="3535363" cy="8149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8D56BE9-ED9B-1FEE-F84B-DA5E5E0CB59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620" y="-63500"/>
            <a:ext cx="4725076" cy="5256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F92A8D1A-8087-B713-B792-1196676E8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861680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1032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61E00C-A024-71C3-971F-1AFA495F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97430"/>
            <a:ext cx="8349916" cy="3413072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5B61543-7882-6964-E3B2-96834DF582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762" y="691628"/>
            <a:ext cx="834991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B1CD1D-46EF-C274-B1E4-D70331800E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35503" y="485946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639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F311B5-18DE-CC24-B154-2E2E9BBC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0FBAE2-C3C6-48CA-66CF-D7F40E6E5D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97430"/>
            <a:ext cx="8349916" cy="3413072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lang="en-US" sz="2100" b="0" kern="1200" dirty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2100"/>
            </a:lvl5pPr>
          </a:lstStyle>
          <a:p>
            <a:pPr lvl="0"/>
            <a:r>
              <a:rPr lang="en-US" dirty="0"/>
              <a:t>Click to edit Master text styles Arial 21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280BC2AA-5EE6-7B52-BA8C-83089B779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3" y="4831733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8115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43000"/>
            <a:ext cx="4129238" cy="34675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143000"/>
            <a:ext cx="4073090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 userDrawn="1"/>
        </p:nvCxnSpPr>
        <p:spPr>
          <a:xfrm>
            <a:off x="4648200" y="1143000"/>
            <a:ext cx="0" cy="34675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9A92129A-0811-4A8A-836A-70F8CEA85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5502" y="4831733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6945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231900"/>
            <a:ext cx="4073091" cy="33786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231899"/>
            <a:ext cx="4073091" cy="3378601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A16F23-89BB-6D08-1419-74F0F035C8BE}"/>
              </a:ext>
            </a:extLst>
          </p:cNvPr>
          <p:cNvCxnSpPr>
            <a:cxnSpLocks/>
          </p:cNvCxnSpPr>
          <p:nvPr userDrawn="1"/>
        </p:nvCxnSpPr>
        <p:spPr>
          <a:xfrm>
            <a:off x="4615542" y="811374"/>
            <a:ext cx="0" cy="379912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CB157-652B-FD48-276D-25DEB55BE6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26793" y="485977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4624EA4-4987-93B2-9F41-13E6B95F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12373A8-F430-2AB4-654C-8FAFF8BC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2762" y="691628"/>
            <a:ext cx="406873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3B0951-F521-1E5E-E4BC-A9A329C087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232" y="691628"/>
            <a:ext cx="4068736" cy="391296"/>
          </a:xfrm>
        </p:spPr>
        <p:txBody>
          <a:bodyPr/>
          <a:lstStyle>
            <a:lvl1pPr marL="0" indent="0">
              <a:buNone/>
              <a:defRPr sz="2400" b="0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094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Subhead Arial 24 pt</a:t>
            </a:r>
          </a:p>
        </p:txBody>
      </p:sp>
    </p:spTree>
    <p:extLst>
      <p:ext uri="{BB962C8B-B14F-4D97-AF65-F5344CB8AC3E}">
        <p14:creationId xmlns:p14="http://schemas.microsoft.com/office/powerpoint/2010/main" val="925118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6C6F62-ED0F-2FA7-A0A0-9AE79283E8FF}"/>
              </a:ext>
            </a:extLst>
          </p:cNvPr>
          <p:cNvSpPr/>
          <p:nvPr userDrawn="1"/>
        </p:nvSpPr>
        <p:spPr bwMode="auto">
          <a:xfrm>
            <a:off x="4719588" y="1143000"/>
            <a:ext cx="4073090" cy="36766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99680-FAA4-1DB9-3017-2EB126F0B7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762" y="1143000"/>
            <a:ext cx="4129238" cy="3467501"/>
          </a:xfrm>
        </p:spPr>
        <p:txBody>
          <a:bodyPr/>
          <a:lstStyle>
            <a:lvl1pPr marL="168275" indent="-168275">
              <a:buClr>
                <a:srgbClr val="005094"/>
              </a:buClr>
              <a:buFont typeface="Wingdings" panose="05000000000000000000" pitchFamily="2" charset="2"/>
              <a:buChar char="§"/>
              <a:defRPr sz="1800"/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01E633-FAA4-F7B4-3893-A1FFB20A9C4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719587" y="1143000"/>
            <a:ext cx="4073090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edit Master text styles Arial 18 pt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827E89-9151-3A74-8245-090B5BDB5693}"/>
              </a:ext>
            </a:extLst>
          </p:cNvPr>
          <p:cNvCxnSpPr>
            <a:cxnSpLocks/>
          </p:cNvCxnSpPr>
          <p:nvPr userDrawn="1"/>
        </p:nvCxnSpPr>
        <p:spPr>
          <a:xfrm>
            <a:off x="4648200" y="1143000"/>
            <a:ext cx="0" cy="346750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FA46726-0B7D-512C-7067-C9740C6A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33CB75A5-C7CB-2DB8-4C55-16FC38CE16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2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494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F3B42D-C50E-33BB-B7E9-3C8F2C8CDE29}"/>
              </a:ext>
            </a:extLst>
          </p:cNvPr>
          <p:cNvSpPr/>
          <p:nvPr userDrawn="1"/>
        </p:nvSpPr>
        <p:spPr bwMode="auto">
          <a:xfrm>
            <a:off x="442761" y="1143000"/>
            <a:ext cx="8349917" cy="36703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F23D3D4-9F97-9AAC-983C-389847374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42761" y="1143000"/>
            <a:ext cx="8349916" cy="3467500"/>
          </a:xfrm>
        </p:spPr>
        <p:txBody>
          <a:bodyPr/>
          <a:lstStyle>
            <a:lvl1pPr marL="177800" indent="-177800">
              <a:buClr>
                <a:srgbClr val="005094"/>
              </a:buClr>
              <a:buFont typeface="Wingdings" panose="05000000000000000000" pitchFamily="2" charset="2"/>
              <a:buChar char="§"/>
              <a:defRPr lang="en-US" sz="1800" b="0" kern="1200" dirty="0" smtClean="0">
                <a:solidFill>
                  <a:srgbClr val="525252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2pPr>
            <a:lvl3pPr marL="742950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3pPr>
            <a:lvl4pPr marL="1028700" indent="-228600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4pPr>
            <a:lvl5pPr marL="1312863" indent="-227013">
              <a:buClr>
                <a:srgbClr val="005094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r>
              <a:rPr lang="en-US" dirty="0"/>
              <a:t>Subhead Arial 21 pt</a:t>
            </a: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1237F"/>
              </a:buClr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18EDF24D-2644-DA9D-EFD0-4B9BBBE37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5502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300C8CE-3F16-A12B-7A24-DA8017CA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96495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2B372A-77B5-31B3-E290-AB03B868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148739"/>
            <a:ext cx="8349916" cy="507831"/>
          </a:xfrm>
        </p:spPr>
        <p:txBody>
          <a:bodyPr anchor="ctr"/>
          <a:lstStyle>
            <a:lvl1pPr algn="l">
              <a:lnSpc>
                <a:spcPct val="100000"/>
              </a:lnSpc>
              <a:defRPr>
                <a:solidFill>
                  <a:srgbClr val="0050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9FCD054-2ACB-3400-A961-62B89EF0092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904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550F4DCF-0EC0-663F-41C6-AC6F61393C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36639" y="998545"/>
            <a:ext cx="7072312" cy="2169825"/>
          </a:xfrm>
        </p:spPr>
        <p:txBody>
          <a:bodyPr vert="horz" wrap="square" lIns="91440" tIns="45720" rIns="91440" bIns="45720" rtlCol="0" anchor="b" anchorCtr="0">
            <a:spAutoFit/>
          </a:bodyPr>
          <a:lstStyle>
            <a:lvl1pPr marL="280988" indent="-91440">
              <a:lnSpc>
                <a:spcPct val="90000"/>
              </a:lnSpc>
              <a:defRPr lang="en-US" sz="3000" kern="2200" spc="0" baseline="0" dirty="0">
                <a:latin typeface="+mn-lt"/>
              </a:defRPr>
            </a:lvl1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semper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ipsum mi, ac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dolor.”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36637" y="3383309"/>
            <a:ext cx="7072313" cy="541425"/>
          </a:xfrm>
        </p:spPr>
        <p:txBody>
          <a:bodyPr vert="horz" wrap="square" lIns="91440" tIns="45720" rIns="91440" bIns="45720" rtlCol="0">
            <a:noAutofit/>
          </a:bodyPr>
          <a:lstStyle>
            <a:lvl1pPr marL="0" indent="0" algn="r">
              <a:spcBef>
                <a:spcPts val="300"/>
              </a:spcBef>
              <a:buNone/>
              <a:defRPr lang="en-US" sz="1800" baseline="0" dirty="0" smtClean="0">
                <a:solidFill>
                  <a:srgbClr val="525252"/>
                </a:solidFill>
                <a:latin typeface="+mn-lt"/>
              </a:defRPr>
            </a:lvl1pPr>
            <a:lvl2pPr marL="230187" indent="0">
              <a:buNone/>
              <a:defRPr lang="en-US" dirty="0" smtClean="0"/>
            </a:lvl2pPr>
            <a:lvl3pPr marL="515937" indent="0">
              <a:buNone/>
              <a:defRPr lang="en-US" dirty="0" smtClean="0"/>
            </a:lvl3pPr>
            <a:lvl4pPr marL="800100" indent="0">
              <a:buNone/>
              <a:defRPr lang="en-US" dirty="0" smtClean="0"/>
            </a:lvl4pPr>
            <a:lvl5pPr marL="1085850" indent="0">
              <a:buNone/>
              <a:defRPr lang="en-US" dirty="0"/>
            </a:lvl5pPr>
          </a:lstStyle>
          <a:p>
            <a:pPr lvl="0"/>
            <a:r>
              <a:rPr lang="en-US" dirty="0"/>
              <a:t>—Author’s Name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DD649393-7F7F-376A-0550-E4D3CFFD7A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136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EE34C1-3461-53B5-31B6-6C5EA7C7518D}"/>
              </a:ext>
            </a:extLst>
          </p:cNvPr>
          <p:cNvSpPr/>
          <p:nvPr userDrawn="1"/>
        </p:nvSpPr>
        <p:spPr bwMode="auto">
          <a:xfrm>
            <a:off x="0" y="0"/>
            <a:ext cx="9143999" cy="5143500"/>
          </a:xfrm>
          <a:prstGeom prst="rect">
            <a:avLst/>
          </a:prstGeom>
          <a:solidFill>
            <a:srgbClr val="005094"/>
          </a:soli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US" sz="1600" b="1" dirty="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3BC0876D-534B-C445-D5AC-3F90E89F50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0477" y="355946"/>
            <a:ext cx="3535363" cy="8149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8F41F8-F19F-D315-422E-A1602CCD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517065"/>
          </a:xfr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D7F17-64E9-A89C-A05F-98433E47429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620" y="-63500"/>
            <a:ext cx="4725076" cy="5256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ctr">
              <a:lnSpc>
                <a:spcPct val="90000"/>
              </a:lnSpc>
            </a:pPr>
            <a:endParaRPr lang="en-IN" sz="1600" b="1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AF9A6E86-2C50-5A08-8E59-26135CF1280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535503" y="4831733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82737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0509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2525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1112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284972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-2" y="4817444"/>
            <a:ext cx="9143999" cy="326056"/>
          </a:xfrm>
          <a:prstGeom prst="rect">
            <a:avLst/>
          </a:prstGeom>
          <a:gradFill flip="none" rotWithShape="1">
            <a:gsLst>
              <a:gs pos="0">
                <a:srgbClr val="005094"/>
              </a:gs>
              <a:gs pos="50000">
                <a:srgbClr val="005094"/>
              </a:gs>
              <a:gs pos="75000">
                <a:srgbClr val="3A195B"/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none" rtlCol="0" anchor="ctr"/>
          <a:lstStyle/>
          <a:p>
            <a:pPr algn="l">
              <a:lnSpc>
                <a:spcPct val="90000"/>
              </a:lnSpc>
            </a:pPr>
            <a:endParaRPr lang="en-US" sz="12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638" y="633475"/>
            <a:ext cx="7072312" cy="438582"/>
          </a:xfrm>
          <a:prstGeom prst="rect">
            <a:avLst/>
          </a:prstGeom>
        </p:spPr>
        <p:txBody>
          <a:bodyPr vert="horz" wrap="square" lIns="0" tIns="0" rIns="0" bIns="45720" rtlCol="0" anchor="t" anchorCtr="0">
            <a:spAutoFit/>
          </a:bodyPr>
          <a:lstStyle/>
          <a:p>
            <a:r>
              <a:rPr lang="en-US" dirty="0"/>
              <a:t>Slide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6638" y="1108347"/>
            <a:ext cx="7072312" cy="3171045"/>
          </a:xfrm>
          <a:prstGeom prst="rect">
            <a:avLst/>
          </a:prstGeom>
        </p:spPr>
        <p:txBody>
          <a:bodyPr vert="horz" wrap="square" lIns="0" tIns="0" rIns="0" bIns="45720" rtlCol="0">
            <a:noAutofit/>
          </a:bodyPr>
          <a:lstStyle/>
          <a:p>
            <a:pPr lvl="0"/>
            <a:r>
              <a:rPr lang="en-US" dirty="0"/>
              <a:t>Click to edit bullet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blue and black logo&#10;&#10;Description automatically generated">
            <a:extLst>
              <a:ext uri="{FF2B5EF4-FFF2-40B4-BE49-F238E27FC236}">
                <a16:creationId xmlns:a16="http://schemas.microsoft.com/office/drawing/2014/main" id="{56EBD2BB-939E-8183-DA57-9EBF0EB8BE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r="74035"/>
          <a:stretch/>
        </p:blipFill>
        <p:spPr>
          <a:xfrm>
            <a:off x="8366780" y="118792"/>
            <a:ext cx="712936" cy="7200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9E92E5-B5F9-59B9-2C09-DCBBBD144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073" y="4932002"/>
            <a:ext cx="514350" cy="326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B327F5A-7D8F-4012-9A1A-2197D74A174F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F8A716-9FA3-C8CF-6294-DA0CD42E76CF}"/>
              </a:ext>
            </a:extLst>
          </p:cNvPr>
          <p:cNvCxnSpPr/>
          <p:nvPr userDrawn="1"/>
        </p:nvCxnSpPr>
        <p:spPr>
          <a:xfrm>
            <a:off x="0" y="1078706"/>
            <a:ext cx="9144000" cy="0"/>
          </a:xfrm>
          <a:prstGeom prst="line">
            <a:avLst/>
          </a:prstGeom>
          <a:ln w="9525">
            <a:solidFill>
              <a:srgbClr val="3A1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28" r:id="rId3"/>
    <p:sldLayoutId id="2147484023" r:id="rId4"/>
    <p:sldLayoutId id="2147484025" r:id="rId5"/>
    <p:sldLayoutId id="2147484030" r:id="rId6"/>
    <p:sldLayoutId id="2147484029" r:id="rId7"/>
    <p:sldLayoutId id="2147484027" r:id="rId8"/>
    <p:sldLayoutId id="2147483944" r:id="rId9"/>
    <p:sldLayoutId id="2147483940" r:id="rId10"/>
    <p:sldLayoutId id="2147483947" r:id="rId11"/>
    <p:sldLayoutId id="2147484031" r:id="rId12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3000" b="0" kern="1200" cap="none" spc="0" baseline="0" dirty="0" smtClean="0">
          <a:solidFill>
            <a:srgbClr val="005094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Wingdings" panose="05000000000000000000" pitchFamily="2" charset="2"/>
        <a:buChar char="§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45720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42950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10287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 smtClean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312863" indent="-227013" algn="l" defTabSz="914400" rtl="0" eaLnBrk="1" latinLnBrk="0" hangingPunct="1">
        <a:lnSpc>
          <a:spcPct val="100000"/>
        </a:lnSpc>
        <a:spcBef>
          <a:spcPts val="1000"/>
        </a:spcBef>
        <a:buClr>
          <a:srgbClr val="005094"/>
        </a:buClr>
        <a:buFont typeface="Arial" panose="020B0604020202020204" pitchFamily="34" charset="0"/>
        <a:buChar char="•"/>
        <a:defRPr lang="en-US" sz="1800" b="0" kern="1200" dirty="0">
          <a:solidFill>
            <a:srgbClr val="525252"/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7F3F-9EED-8F52-2E31-5C593DDC3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8C1951C4-93AE-4DB7-B5EA-49D22832BB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666" y="1391077"/>
            <a:ext cx="8791510" cy="42434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lang="en-IN" sz="2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REVIEW </a:t>
            </a:r>
            <a:r>
              <a:rPr lang="en-IN" sz="2200" spc="-1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IV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174A5FDC-374E-4C44-807E-379B8C1A7C48}"/>
              </a:ext>
            </a:extLst>
          </p:cNvPr>
          <p:cNvSpPr txBox="1"/>
          <p:nvPr/>
        </p:nvSpPr>
        <p:spPr>
          <a:xfrm>
            <a:off x="123666" y="2107982"/>
            <a:ext cx="9052825" cy="355225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GB" sz="2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Smart Attendance and Engagement Application</a:t>
            </a:r>
            <a:endParaRPr lang="en-US" sz="2200" spc="-1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B52336-9937-42CE-9CD3-1A9FFF08020F}"/>
              </a:ext>
            </a:extLst>
          </p:cNvPr>
          <p:cNvSpPr txBox="1"/>
          <p:nvPr/>
        </p:nvSpPr>
        <p:spPr>
          <a:xfrm>
            <a:off x="123666" y="3860550"/>
            <a:ext cx="6933202" cy="1119922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marR="1725295">
              <a:lnSpc>
                <a:spcPct val="10089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marL="12700" marR="1725295">
              <a:lnSpc>
                <a:spcPct val="100899"/>
              </a:lnSpc>
            </a:pPr>
            <a:r>
              <a:rPr lang="en-US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Tavva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Sandeep Kumar Reddy(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23951A66H0)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725295">
              <a:lnSpc>
                <a:spcPct val="100899"/>
              </a:lnSpc>
            </a:pP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Pavan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23951A66C0)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12700" marR="1725295">
              <a:lnSpc>
                <a:spcPct val="10089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Kishore(24955A6651).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F5F14-B7D7-4625-A8EF-1B0BE817536D}"/>
              </a:ext>
            </a:extLst>
          </p:cNvPr>
          <p:cNvSpPr txBox="1"/>
          <p:nvPr/>
        </p:nvSpPr>
        <p:spPr bwMode="auto">
          <a:xfrm>
            <a:off x="5788180" y="3701244"/>
            <a:ext cx="3388311" cy="1200329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</a:t>
            </a:r>
          </a:p>
          <a:p>
            <a:r>
              <a:rPr lang="en-GB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Shaik </a:t>
            </a:r>
            <a:r>
              <a:rPr lang="en-GB" spc="-1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Jakeer</a:t>
            </a:r>
            <a:r>
              <a:rPr lang="en-GB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Hussain, Associate Professor</a:t>
            </a:r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– (AI &amp; ML).</a:t>
            </a:r>
            <a:endParaRPr lang="en-IN" dirty="0"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951E22A2-205D-43E4-85C7-5AF3D8EA7555}"/>
              </a:ext>
            </a:extLst>
          </p:cNvPr>
          <p:cNvSpPr txBox="1">
            <a:spLocks/>
          </p:cNvSpPr>
          <p:nvPr/>
        </p:nvSpPr>
        <p:spPr>
          <a:xfrm>
            <a:off x="123666" y="3351725"/>
            <a:ext cx="8791510" cy="349519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lang="en-IN" sz="1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17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96648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48200" y="1143000"/>
            <a:ext cx="0" cy="3467735"/>
          </a:xfrm>
          <a:custGeom>
            <a:avLst/>
            <a:gdLst/>
            <a:ahLst/>
            <a:cxnLst/>
            <a:rect l="l" t="t" r="r" b="b"/>
            <a:pathLst>
              <a:path h="3467735">
                <a:moveTo>
                  <a:pt x="0" y="0"/>
                </a:moveTo>
                <a:lnTo>
                  <a:pt x="0" y="3467493"/>
                </a:lnTo>
              </a:path>
            </a:pathLst>
          </a:custGeom>
          <a:ln w="19050">
            <a:solidFill>
              <a:srgbClr val="005093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653" y="1071012"/>
            <a:ext cx="4584548" cy="2199961"/>
          </a:xfrm>
          <a:prstGeom prst="rect">
            <a:avLst/>
          </a:prstGeom>
        </p:spPr>
        <p:txBody>
          <a:bodyPr vert="horz" wrap="square" lIns="0" tIns="88265" rIns="0" bIns="0" rtlCol="0" anchor="t">
            <a:spAutoFit/>
          </a:bodyPr>
          <a:lstStyle/>
          <a:p>
            <a:pPr marL="283845" indent="-271145">
              <a:spcBef>
                <a:spcPts val="695"/>
              </a:spcBef>
              <a:buClr>
                <a:srgbClr val="005093"/>
              </a:buClr>
              <a:buFont typeface="Wingdings"/>
              <a:buChar char=""/>
              <a:tabLst>
                <a:tab pos="283845" algn="l"/>
              </a:tabLst>
            </a:pPr>
            <a:r>
              <a:rPr lang="en-US" dirty="0">
                <a:solidFill>
                  <a:srgbClr val="52525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– 5: 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PROGRESS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METHODOLGY VALIDATION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</a:t>
            </a:r>
          </a:p>
          <a:p>
            <a:pPr marL="755650" lvl="1" indent="-285750">
              <a:spcBef>
                <a:spcPts val="695"/>
              </a:spcBef>
              <a:buClr>
                <a:srgbClr val="005093"/>
              </a:buClr>
              <a:buFont typeface="Arial" panose="020B0604020202020204" pitchFamily="34" charset="0"/>
              <a:buChar char="•"/>
              <a:tabLst>
                <a:tab pos="283845" algn="l"/>
              </a:tabLst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PARTIAL RESULTS</a:t>
            </a:r>
          </a:p>
          <a:p>
            <a:pPr marL="469900" lvl="1">
              <a:spcBef>
                <a:spcPts val="695"/>
              </a:spcBef>
              <a:buClr>
                <a:srgbClr val="005093"/>
              </a:buClr>
              <a:tabLst>
                <a:tab pos="283845" algn="l"/>
              </a:tabLst>
            </a:pPr>
            <a:endParaRPr lang="en-US" dirty="0">
              <a:solidFill>
                <a:schemeClr val="accent5"/>
              </a:solidFill>
              <a:latin typeface="Arial MT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653" y="372218"/>
            <a:ext cx="7072312" cy="47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1143000"/>
            <a:ext cx="3495675" cy="3467100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76E399F-55E0-4BDB-951D-6A5B065C3946}"/>
              </a:ext>
            </a:extLst>
          </p:cNvPr>
          <p:cNvSpPr txBox="1">
            <a:spLocks/>
          </p:cNvSpPr>
          <p:nvPr/>
        </p:nvSpPr>
        <p:spPr>
          <a:xfrm>
            <a:off x="8629650" y="4817444"/>
            <a:ext cx="514350" cy="32605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B327F5A-7D8F-4012-9A1A-2197D74A174F}" type="slidenum">
              <a:rPr lang="en-IN" sz="1200" smtClean="0">
                <a:solidFill>
                  <a:schemeClr val="bg1"/>
                </a:solidFill>
              </a:rPr>
              <a:pPr algn="r"/>
              <a:t>2</a:t>
            </a:fld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Progress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8C8963-A0F9-2A36-23E5-6C7A7D8639F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7117" y="1251583"/>
            <a:ext cx="898976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Inefficiency Gap: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manual roll-calls consume ~15% of instructional time and are prone to human logging errors.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Proxy Problem: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Static digital methods (like basic QR) suffer from "buddy punching," where students share screenshots of codes with absent peers.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Fragmentation: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Institutional data—schedules, attendance records, and student performance—exists in disconnected silos.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Motivation: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Conventional attendance tracking is a passive administrative task that does not encourage student engagement or technical skill growth.</a:t>
            </a:r>
          </a:p>
        </p:txBody>
      </p:sp>
    </p:spTree>
    <p:extLst>
      <p:ext uri="{BB962C8B-B14F-4D97-AF65-F5344CB8AC3E}">
        <p14:creationId xmlns:p14="http://schemas.microsoft.com/office/powerpoint/2010/main" val="179790979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B7C4-1933-62C6-1B60-A7FD5862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DF7C4B-34AD-2641-12B4-FA57971E07E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F6EF1C5-08D0-5DFC-4029-1B957599C88F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Validation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C0527D6-68A2-F0D1-044F-7612C119AC2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8303" y="1294477"/>
            <a:ext cx="894569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 responsive, role-based interaction layer.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Developed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Express.js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high-performance, non-blocking request handling.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Persistence: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utilized for flexible storage of master timetables, attendance logs, and performance metrics.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38333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Validation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55FA772-045E-35A3-6BC4-F4EF127E267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8303" y="1466229"/>
            <a:ext cx="8945697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QR Engine: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Generates time-sensitive, encrypted hashes to prevent unauthorized sharing.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Timetable Validation Logic: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Cross-references scan timestamps with the "Master Timetable" to ensure subject-wise accuracy.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Weighted Ranking Algorithm: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Processes technical coding scores to update the live leaderboard instantly.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56062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E30C25-1C20-00CA-6799-FCC517CE47F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0EA89-D34A-938E-3F6B-A363A6F9C964}"/>
              </a:ext>
            </a:extLst>
          </p:cNvPr>
          <p:cNvSpPr txBox="1"/>
          <p:nvPr/>
        </p:nvSpPr>
        <p:spPr bwMode="auto">
          <a:xfrm>
            <a:off x="159204" y="400050"/>
            <a:ext cx="4572000" cy="76944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3000" baseline="0">
                <a:solidFill>
                  <a:srgbClr val="005094"/>
                </a:solidFill>
                <a:latin typeface="Times New Roman"/>
              </a:rPr>
              <a:t>Implementation Progress</a:t>
            </a:r>
            <a:r>
              <a:rPr sz="3000">
                <a:latin typeface="Times New Roman"/>
                <a:ea typeface="Times New Roman"/>
                <a:cs typeface="Times New Roman"/>
              </a:rPr>
              <a:t>​</a:t>
            </a:r>
            <a:endParaRPr lang="en-US"/>
          </a:p>
          <a:p>
            <a:pPr algn="ctr"/>
            <a:endParaRPr lang="en-US" sz="2000" dirty="0" err="1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D973189-0568-7163-3863-989CBC43732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8472" y="1354157"/>
            <a:ext cx="88355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RBAC (Role-Based Access Control):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integrated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 Web Tokens (JWT)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Distinct dashboards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Admin, Faculty, and Students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fully functional.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Attendance Engine: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QR Generator: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Active and successfully generating refreshable codes.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Override: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Streamlined UI for faculty to handle technical exceptions or bulk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37709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3575D-524B-7D57-6979-F0E55C7BC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B1691B-33FA-F096-7838-B20497131C7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B327F5A-7D8F-4012-9A1A-2197D74A174F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02DF6-38E1-4635-41C7-C1D42B76528C}"/>
              </a:ext>
            </a:extLst>
          </p:cNvPr>
          <p:cNvSpPr txBox="1"/>
          <p:nvPr/>
        </p:nvSpPr>
        <p:spPr bwMode="auto">
          <a:xfrm>
            <a:off x="159204" y="400050"/>
            <a:ext cx="4572000" cy="769441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3000" baseline="0">
                <a:solidFill>
                  <a:srgbClr val="005094"/>
                </a:solidFill>
                <a:latin typeface="Times New Roman"/>
              </a:rPr>
              <a:t>Implementation Progress</a:t>
            </a:r>
            <a:r>
              <a:rPr sz="3000">
                <a:latin typeface="Times New Roman"/>
                <a:ea typeface="Times New Roman"/>
                <a:cs typeface="Times New Roman"/>
              </a:rPr>
              <a:t>​</a:t>
            </a:r>
            <a:endParaRPr lang="en-US"/>
          </a:p>
          <a:p>
            <a:pPr algn="ctr"/>
            <a:endParaRPr lang="en-US" sz="2000" dirty="0" err="1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E19F90A-48D8-618D-A00A-3740A473E7F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9204" y="1169491"/>
            <a:ext cx="883552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Engagement Hub: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Coding Leaderboard: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ranking based on aggregated student coding scores is live.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Announcement Feed: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Centralized system for pushing institutional updates to all dashboards.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99822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7C00D-A1D2-183A-3AFE-EA9A56FF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EAF213-8FD9-6463-2B70-22E4EC9A8C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AE88FD1-19F7-B33C-E53B-965CD4D2C9AA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939359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IN" spc="-30">
                <a:latin typeface="Times New Roman"/>
                <a:cs typeface="Times New Roman"/>
              </a:rPr>
              <a:t>Partial Results</a:t>
            </a:r>
            <a:endParaRPr lang="en-IN" spc="-3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105"/>
              </a:spcBef>
            </a:pP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AAE88B1-9EEE-32EA-A9DD-E07C5B1121E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39" y="1144248"/>
            <a:ext cx="907796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Check: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Verified that dynamic QR codes expire periodically; screenshots taken by students were rejected by the backend after the refresh interval.</a:t>
            </a:r>
            <a:endParaRPr lang="en-US" altLang="en-US" sz="16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Timetable Integrity: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Validated that the system rejects attendance scans if the student attempts to mark presence outside their scheduled subject hour.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 Isolation: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Confirmed that students cannot access the "Master Timetable Editor" or modify attendance records—functions strictly reserved for Admin/Faculty.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Average scan-to-log latency consistently under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 seconds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Concurrency: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handled simulated simultaneous scans from 60+ users.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7588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B9927-A832-F91A-4F53-69DD0AAB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459A4A-41DB-923E-9BED-19525C46D16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B0EB8F1-0F3C-F739-7B6A-D5E2E6CE0E72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939359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IN" spc="-30">
                <a:latin typeface="Times New Roman"/>
                <a:cs typeface="Times New Roman"/>
              </a:rPr>
              <a:t>Partial Results</a:t>
            </a:r>
            <a:endParaRPr lang="en-IN" spc="-3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105"/>
              </a:spcBef>
            </a:pPr>
            <a:endParaRPr lang="en-IN"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5B6206-5674-4A20-E42C-0B1CDBD1566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8410" y="1389643"/>
            <a:ext cx="883559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View: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Displays "Personal QR Profile," attendance percentage, and current leaderboard rank.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 View: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Shows "Active Session" controls, dynamic QR display, and manual student selection 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View: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Global "Master Control" for timetable editing and department-wide reporting.</a:t>
            </a:r>
          </a:p>
        </p:txBody>
      </p:sp>
    </p:spTree>
    <p:extLst>
      <p:ext uri="{BB962C8B-B14F-4D97-AF65-F5344CB8AC3E}">
        <p14:creationId xmlns:p14="http://schemas.microsoft.com/office/powerpoint/2010/main" val="141426179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BE30EA-17F1-4C88-1666-C76A08009D0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523BC59-FDD6-4254-A4EC-89541F3B39F4}"/>
              </a:ext>
            </a:extLst>
          </p:cNvPr>
          <p:cNvSpPr txBox="1">
            <a:spLocks/>
          </p:cNvSpPr>
          <p:nvPr/>
        </p:nvSpPr>
        <p:spPr>
          <a:xfrm>
            <a:off x="66039" y="188849"/>
            <a:ext cx="7432040" cy="534120"/>
          </a:xfrm>
          <a:prstGeom prst="rect">
            <a:avLst/>
          </a:prstGeom>
        </p:spPr>
        <p:txBody>
          <a:bodyPr vert="horz" wrap="square" lIns="0" tIns="71754" rIns="0" bIns="0" rtlCol="0" anchor="t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000" b="0" kern="1200" cap="none" spc="0" baseline="0" dirty="0" smtClean="0">
                <a:solidFill>
                  <a:srgbClr val="005094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B861E0-7274-4CF5-EE56-B2CE7C23082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4236" y="1290005"/>
            <a:ext cx="884654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transitioned from a paper-based system to a unified, secure digital ecosystem.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Eliminated "buddy punching" through dynamic authentication.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Bridged the gap between administrative tracking and student technical motivation.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Finalize automated PDF report generation for department heads.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Push Notifications for the announcement module.</a:t>
            </a:r>
          </a:p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the application to the Cloud (Render/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for live institutional testing.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4845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30849E-F7A6-5ED3-F0DD-CF5FC48A9C6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629650" y="4817444"/>
            <a:ext cx="514350" cy="326056"/>
          </a:xfrm>
        </p:spPr>
        <p:txBody>
          <a:bodyPr/>
          <a:lstStyle/>
          <a:p>
            <a:fld id="{4B327F5A-7D8F-4012-9A1A-2197D74A174F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F41802-39C9-442C-A52E-2BA7B3060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7" y="2445200"/>
            <a:ext cx="6950076" cy="490904"/>
          </a:xfrm>
        </p:spPr>
        <p:txBody>
          <a:bodyPr/>
          <a:lstStyle/>
          <a:p>
            <a:r>
              <a:rPr lang="en-GB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34017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C Powerpoint Template">
  <a:themeElements>
    <a:clrScheme name="Custom 1">
      <a:dk1>
        <a:srgbClr val="005094"/>
      </a:dk1>
      <a:lt1>
        <a:srgbClr val="FFFFFF"/>
      </a:lt1>
      <a:dk2>
        <a:srgbClr val="FFFFFF"/>
      </a:dk2>
      <a:lt2>
        <a:srgbClr val="FFFFFF"/>
      </a:lt2>
      <a:accent1>
        <a:srgbClr val="005094"/>
      </a:accent1>
      <a:accent2>
        <a:srgbClr val="525252"/>
      </a:accent2>
      <a:accent3>
        <a:srgbClr val="525252"/>
      </a:accent3>
      <a:accent4>
        <a:srgbClr val="005094"/>
      </a:accent4>
      <a:accent5>
        <a:srgbClr val="525252"/>
      </a:accent5>
      <a:accent6>
        <a:srgbClr val="005094"/>
      </a:accent6>
      <a:hlink>
        <a:srgbClr val="525252"/>
      </a:hlink>
      <a:folHlink>
        <a:srgbClr val="005094"/>
      </a:folHlink>
    </a:clrScheme>
    <a:fontScheme name="Montgomery College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51237F"/>
        </a:solidFill>
        <a:ln w="19050" algn="ctr">
          <a:noFill/>
          <a:miter lim="800000"/>
          <a:headEnd/>
          <a:tailEnd/>
        </a:ln>
      </a:spPr>
      <a:bodyPr wrap="none" rtlCol="0" anchor="ctr"/>
      <a:lstStyle>
        <a:defPPr algn="ctr">
          <a:lnSpc>
            <a:spcPct val="90000"/>
          </a:lnSpc>
          <a:defRPr sz="1600" b="1" dirty="0" err="1" smtClean="0">
            <a:solidFill>
              <a:schemeClr val="bg1"/>
            </a:solidFill>
            <a:latin typeface="+mj-lt"/>
          </a:defRPr>
        </a:defPPr>
      </a:lstStyle>
    </a:spDef>
    <a:lnDef>
      <a:spPr>
        <a:ln w="2857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9050" algn="ctr">
          <a:noFill/>
          <a:miter lim="800000"/>
          <a:headEnd/>
          <a:tailEnd/>
        </a:ln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alesse Palette">
      <a:dk1>
        <a:sysClr val="windowText" lastClr="000000"/>
      </a:dk1>
      <a:lt1>
        <a:sysClr val="window" lastClr="FFFFFF"/>
      </a:lt1>
      <a:dk2>
        <a:srgbClr val="342B2A"/>
      </a:dk2>
      <a:lt2>
        <a:srgbClr val="DAD6CB"/>
      </a:lt2>
      <a:accent1>
        <a:srgbClr val="E55302"/>
      </a:accent1>
      <a:accent2>
        <a:srgbClr val="5F3032"/>
      </a:accent2>
      <a:accent3>
        <a:srgbClr val="005774"/>
      </a:accent3>
      <a:accent4>
        <a:srgbClr val="9BA03C"/>
      </a:accent4>
      <a:accent5>
        <a:srgbClr val="34AA71"/>
      </a:accent5>
      <a:accent6>
        <a:srgbClr val="F3BD48"/>
      </a:accent6>
      <a:hlink>
        <a:srgbClr val="34AA71"/>
      </a:hlink>
      <a:folHlink>
        <a:srgbClr val="8C8C8C"/>
      </a:folHlink>
    </a:clrScheme>
    <a:fontScheme name="Coalesse">
      <a:majorFont>
        <a:latin typeface="Arial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611</Words>
  <Application>Microsoft Office PowerPoint</Application>
  <PresentationFormat>On-screen Show (16:9)</PresentationFormat>
  <Paragraphs>97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Courier New</vt:lpstr>
      <vt:lpstr>Times New Roman</vt:lpstr>
      <vt:lpstr>Arial</vt:lpstr>
      <vt:lpstr>Wingdings</vt:lpstr>
      <vt:lpstr>Arial MT</vt:lpstr>
      <vt:lpstr>Garamond</vt:lpstr>
      <vt:lpstr>MC Powerpoint Template</vt:lpstr>
      <vt:lpstr>CAPSTONE PROJECT REVIEW - IV</vt:lpstr>
      <vt:lpstr>Contents of the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143</cp:revision>
  <dcterms:created xsi:type="dcterms:W3CDTF">2016-09-09T13:34:50Z</dcterms:created>
  <dcterms:modified xsi:type="dcterms:W3CDTF">2026-02-17T05:04:57Z</dcterms:modified>
</cp:coreProperties>
</file>