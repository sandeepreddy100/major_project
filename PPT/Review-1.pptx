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932" r:id="rId1"/>
  </p:sldMasterIdLst>
  <p:notesMasterIdLst>
    <p:notesMasterId r:id="rId15"/>
  </p:notesMasterIdLst>
  <p:handoutMasterIdLst>
    <p:handoutMasterId r:id="rId16"/>
  </p:handoutMasterIdLst>
  <p:sldIdLst>
    <p:sldId id="575" r:id="rId2"/>
    <p:sldId id="257" r:id="rId3"/>
    <p:sldId id="573" r:id="rId4"/>
    <p:sldId id="571" r:id="rId5"/>
    <p:sldId id="570" r:id="rId6"/>
    <p:sldId id="574" r:id="rId7"/>
    <p:sldId id="546" r:id="rId8"/>
    <p:sldId id="569" r:id="rId9"/>
    <p:sldId id="567" r:id="rId10"/>
    <p:sldId id="572" r:id="rId11"/>
    <p:sldId id="545" r:id="rId12"/>
    <p:sldId id="577" r:id="rId13"/>
    <p:sldId id="514" r:id="rId14"/>
  </p:sldIdLst>
  <p:sldSz cx="9144000" cy="5143500" type="screen16x9"/>
  <p:notesSz cx="6858000" cy="9296400"/>
  <p:embeddedFontLst>
    <p:embeddedFont>
      <p:font typeface="Garamond" panose="02020404030301010803" pitchFamily="18" charset="0"/>
      <p:regular r:id="rId17"/>
      <p:bold r:id="rId18"/>
      <p: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43">
          <p15:clr>
            <a:srgbClr val="A4A3A4"/>
          </p15:clr>
        </p15:guide>
        <p15:guide id="2" orient="horz" pos="325">
          <p15:clr>
            <a:srgbClr val="A4A3A4"/>
          </p15:clr>
        </p15:guide>
        <p15:guide id="3" orient="horz" pos="2917">
          <p15:clr>
            <a:srgbClr val="A4A3A4"/>
          </p15:clr>
        </p15:guide>
        <p15:guide id="4" orient="horz" pos="399">
          <p15:clr>
            <a:srgbClr val="A4A3A4"/>
          </p15:clr>
        </p15:guide>
        <p15:guide id="5" pos="576">
          <p15:clr>
            <a:srgbClr val="A4A3A4"/>
          </p15:clr>
        </p15:guide>
        <p15:guide id="6" pos="5184">
          <p15:clr>
            <a:srgbClr val="A4A3A4"/>
          </p15:clr>
        </p15:guide>
        <p15:guide id="7" pos="2880">
          <p15:clr>
            <a:srgbClr val="A4A3A4"/>
          </p15:clr>
        </p15:guide>
        <p15:guide id="8" pos="5108">
          <p15:clr>
            <a:srgbClr val="A4A3A4"/>
          </p15:clr>
        </p15:guide>
        <p15:guide id="9" pos="65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92">
          <p15:clr>
            <a:srgbClr val="A4A3A4"/>
          </p15:clr>
        </p15:guide>
        <p15:guide id="2" orient="horz" pos="5542">
          <p15:clr>
            <a:srgbClr val="A4A3A4"/>
          </p15:clr>
        </p15:guide>
        <p15:guide id="3" orient="horz" pos="5777">
          <p15:clr>
            <a:srgbClr val="A4A3A4"/>
          </p15:clr>
        </p15:guide>
        <p15:guide id="4" pos="286">
          <p15:clr>
            <a:srgbClr val="A4A3A4"/>
          </p15:clr>
        </p15:guide>
        <p15:guide id="5" pos="40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959596"/>
    <a:srgbClr val="3A195B"/>
    <a:srgbClr val="005094"/>
    <a:srgbClr val="004170"/>
    <a:srgbClr val="F0F1F1"/>
    <a:srgbClr val="004670"/>
    <a:srgbClr val="00468C"/>
    <a:srgbClr val="004D8E"/>
    <a:srgbClr val="145094"/>
    <a:srgbClr val="005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8A3CB8-F589-4FAA-BF99-08BBA30C1358}" v="10" dt="2025-12-22T14:56:56.3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64" autoAdjust="0"/>
    <p:restoredTop sz="86425" autoAdjust="0"/>
  </p:normalViewPr>
  <p:slideViewPr>
    <p:cSldViewPr snapToGrid="0" showGuides="1">
      <p:cViewPr varScale="1">
        <p:scale>
          <a:sx n="73" d="100"/>
          <a:sy n="73" d="100"/>
        </p:scale>
        <p:origin x="1220" y="276"/>
      </p:cViewPr>
      <p:guideLst>
        <p:guide orient="horz" pos="2843"/>
        <p:guide orient="horz" pos="325"/>
        <p:guide orient="horz" pos="2917"/>
        <p:guide orient="horz" pos="399"/>
        <p:guide pos="576"/>
        <p:guide pos="5184"/>
        <p:guide pos="2880"/>
        <p:guide pos="5108"/>
        <p:guide pos="65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1" d="100"/>
        <a:sy n="71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-3894" y="-96"/>
      </p:cViewPr>
      <p:guideLst>
        <p:guide orient="horz" pos="2592"/>
        <p:guide orient="horz" pos="5542"/>
        <p:guide orient="horz" pos="5777"/>
        <p:guide pos="286"/>
        <p:guide pos="403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DEEP KUMAR REDDY TAVVA" userId="10a689a2c5b210cf" providerId="LiveId" clId="{F7CA484F-DC9C-467D-A897-77F417B2FB0F}"/>
    <pc:docChg chg="addSld delSld modSld">
      <pc:chgData name="SANDEEP KUMAR REDDY TAVVA" userId="10a689a2c5b210cf" providerId="LiveId" clId="{F7CA484F-DC9C-467D-A897-77F417B2FB0F}" dt="2025-12-22T14:56:56.367" v="30" actId="1076"/>
      <pc:docMkLst>
        <pc:docMk/>
      </pc:docMkLst>
      <pc:sldChg chg="del">
        <pc:chgData name="SANDEEP KUMAR REDDY TAVVA" userId="10a689a2c5b210cf" providerId="LiveId" clId="{F7CA484F-DC9C-467D-A897-77F417B2FB0F}" dt="2025-12-22T14:52:01.402" v="1" actId="47"/>
        <pc:sldMkLst>
          <pc:docMk/>
          <pc:sldMk cId="3853256293" sldId="491"/>
        </pc:sldMkLst>
      </pc:sldChg>
      <pc:sldChg chg="modSp add mod">
        <pc:chgData name="SANDEEP KUMAR REDDY TAVVA" userId="10a689a2c5b210cf" providerId="LiveId" clId="{F7CA484F-DC9C-467D-A897-77F417B2FB0F}" dt="2025-12-22T14:52:06.756" v="2" actId="20577"/>
        <pc:sldMkLst>
          <pc:docMk/>
          <pc:sldMk cId="3615748509" sldId="575"/>
        </pc:sldMkLst>
        <pc:spChg chg="mod">
          <ac:chgData name="SANDEEP KUMAR REDDY TAVVA" userId="10a689a2c5b210cf" providerId="LiveId" clId="{F7CA484F-DC9C-467D-A897-77F417B2FB0F}" dt="2025-12-22T14:52:06.756" v="2" actId="20577"/>
          <ac:spMkLst>
            <pc:docMk/>
            <pc:sldMk cId="3615748509" sldId="575"/>
            <ac:spMk id="12" creationId="{8C1951C4-93AE-4DB7-B5EA-49D22832BBB9}"/>
          </ac:spMkLst>
        </pc:spChg>
      </pc:sldChg>
      <pc:sldChg chg="new del">
        <pc:chgData name="SANDEEP KUMAR REDDY TAVVA" userId="10a689a2c5b210cf" providerId="LiveId" clId="{F7CA484F-DC9C-467D-A897-77F417B2FB0F}" dt="2025-12-22T14:53:46.460" v="5" actId="47"/>
        <pc:sldMkLst>
          <pc:docMk/>
          <pc:sldMk cId="3357387676" sldId="576"/>
        </pc:sldMkLst>
      </pc:sldChg>
      <pc:sldChg chg="addSp delSp modSp add mod">
        <pc:chgData name="SANDEEP KUMAR REDDY TAVVA" userId="10a689a2c5b210cf" providerId="LiveId" clId="{F7CA484F-DC9C-467D-A897-77F417B2FB0F}" dt="2025-12-22T14:56:56.367" v="30" actId="1076"/>
        <pc:sldMkLst>
          <pc:docMk/>
          <pc:sldMk cId="538983973" sldId="577"/>
        </pc:sldMkLst>
        <pc:spChg chg="del">
          <ac:chgData name="SANDEEP KUMAR REDDY TAVVA" userId="10a689a2c5b210cf" providerId="LiveId" clId="{F7CA484F-DC9C-467D-A897-77F417B2FB0F}" dt="2025-12-22T14:53:57.943" v="16" actId="478"/>
          <ac:spMkLst>
            <pc:docMk/>
            <pc:sldMk cId="538983973" sldId="577"/>
            <ac:spMk id="3" creationId="{6B023AC7-43C1-80FA-13D3-E81A7AE6BF4A}"/>
          </ac:spMkLst>
        </pc:spChg>
        <pc:spChg chg="add mod">
          <ac:chgData name="SANDEEP KUMAR REDDY TAVVA" userId="10a689a2c5b210cf" providerId="LiveId" clId="{F7CA484F-DC9C-467D-A897-77F417B2FB0F}" dt="2025-12-22T14:56:56.367" v="30" actId="1076"/>
          <ac:spMkLst>
            <pc:docMk/>
            <pc:sldMk cId="538983973" sldId="577"/>
            <ac:spMk id="4" creationId="{FA965FBA-4182-C0A3-E960-8F7E4D614D7F}"/>
          </ac:spMkLst>
        </pc:spChg>
        <pc:spChg chg="mod">
          <ac:chgData name="SANDEEP KUMAR REDDY TAVVA" userId="10a689a2c5b210cf" providerId="LiveId" clId="{F7CA484F-DC9C-467D-A897-77F417B2FB0F}" dt="2025-12-22T14:53:52.361" v="15" actId="20577"/>
          <ac:spMkLst>
            <pc:docMk/>
            <pc:sldMk cId="538983973" sldId="577"/>
            <ac:spMk id="5" creationId="{B92B31F7-349E-D56A-1462-238199BD991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3294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12750" y="400050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16425"/>
            <a:ext cx="5486400" cy="418306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507483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114300" indent="-114300" algn="l" defTabSz="914400" rtl="0" eaLnBrk="1" latinLnBrk="0" hangingPunct="1">
      <a:spcBef>
        <a:spcPts val="800"/>
      </a:spcBef>
      <a:buFont typeface="Arial" pitchFamily="34" charset="0"/>
      <a:buChar char="•"/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285750" indent="-112713" algn="l" defTabSz="914400" rtl="0" eaLnBrk="1" latinLnBrk="0" hangingPunct="1">
      <a:spcBef>
        <a:spcPts val="200"/>
      </a:spcBef>
      <a:buFont typeface="Arial" pitchFamily="34" charset="0"/>
      <a:buChar char="•"/>
      <a:defRPr sz="11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403225" indent="-117475" algn="l" defTabSz="914400" rtl="0" eaLnBrk="1" latinLnBrk="0" hangingPunct="1">
      <a:spcBef>
        <a:spcPts val="200"/>
      </a:spcBef>
      <a:buFont typeface="Arial" pitchFamily="34" charset="0"/>
      <a:buChar char="•"/>
      <a:defRPr sz="105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569913" indent="-112713" algn="l" defTabSz="914400" rtl="0" eaLnBrk="1" latinLnBrk="0" hangingPunct="1">
      <a:spcBef>
        <a:spcPts val="200"/>
      </a:spcBef>
      <a:buFont typeface="Arial" pitchFamily="34" charset="0"/>
      <a:buChar char="•"/>
      <a:defRPr sz="105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457200" indent="114300" algn="l" defTabSz="914400" rtl="0" eaLnBrk="1" latinLnBrk="0" hangingPunct="1">
      <a:buFont typeface="Arial" pitchFamily="34" charset="0"/>
      <a:buChar char="•"/>
      <a:defRPr sz="1050" kern="1200">
        <a:solidFill>
          <a:schemeClr val="tx1"/>
        </a:solidFill>
        <a:latin typeface="+mn-lt"/>
        <a:ea typeface="+mn-ea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12750" y="400050"/>
            <a:ext cx="6197600" cy="348615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30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99938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5913F-2D30-359B-A018-0B709588D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8336D9-BFD1-65FD-7EB4-400DAED81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33238-BD3C-1589-B2C5-8099D83AA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architecture merges deterministic logic (cut-offs) and intelligent prediction (ML), ensuring accuracy + transparency.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33660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F6364-ECE4-B359-72CA-C7D739019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E871DA-793D-11ED-A272-669DB718A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84D01-E9CB-AB0D-4CB1-566FD9315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architecture merges deterministic logic (cut-offs) and intelligent prediction (ML), ensuring accuracy + transparency.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884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739F-82AF-92CD-E44B-07AC4A4FD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C1EBC-D359-BAB1-039D-FD63DBCFF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0882-DA3A-8507-09A2-2B9505769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architecture merges deterministic logic (cut-offs) and intelligent prediction (ML), ensuring accuracy + transparency.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030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193DC-7522-5E6A-9DA6-4BDE03896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2F31D-3F82-8217-B36A-58F5561792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BBB811-877F-7FDD-C825-987340D6CF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architecture merges deterministic logic (cut-offs) and intelligent prediction (ML), ensuring accuracy + transparency.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33245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70869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E229-4AAF-A5AB-4284-DE6B2456D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76D90-B77A-487A-2351-EA6AB0308A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99C42-DC6A-C53F-A459-C2B169B49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architecture merges deterministic logic (cut-offs) and intelligent prediction (ML), ensuring accuracy + transparency.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44214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8D67F-B267-6492-51F0-397F8F2F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FD9BCA-3C48-B0CD-CCF3-FE160BC64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301807-227F-C6CA-58C7-8FBEB53AF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architecture merges deterministic logic (cut-offs) and intelligent prediction (ML), ensuring accuracy + transparency.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44322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E9F01-E478-215C-ECA2-9C39D2D05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F70149-7783-E0C1-60DB-F05AC3633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75495-DBE9-9339-3882-957AE8641D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architecture merges deterministic logic (cut-offs) and intelligent prediction (ML), ensuring accuracy + transparency.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79638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difference: rule engine = reliability; ML model = smarter prediction.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94368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A8335-62DC-31B9-D37B-27384A60C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521E7A-3B8C-367B-7969-8EC6715D2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0F465-9A80-47E3-3607-16FE3D3A1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difference: rule engine = reliability; ML model = smarter prediction.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53128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77317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 bwMode="auto">
          <a:xfrm>
            <a:off x="0" y="0"/>
            <a:ext cx="9143999" cy="5143500"/>
          </a:xfrm>
          <a:prstGeom prst="rect">
            <a:avLst/>
          </a:prstGeom>
          <a:solidFill>
            <a:srgbClr val="005094"/>
          </a:soli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US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5" name="Title 34"/>
          <p:cNvSpPr>
            <a:spLocks noGrp="1"/>
          </p:cNvSpPr>
          <p:nvPr>
            <p:ph type="title" hasCustomPrompt="1"/>
          </p:nvPr>
        </p:nvSpPr>
        <p:spPr>
          <a:xfrm>
            <a:off x="1039439" y="2180420"/>
            <a:ext cx="7069512" cy="517065"/>
          </a:xfrm>
        </p:spPr>
        <p:txBody>
          <a:bodyPr vert="horz" wrap="square" lIns="0" tIns="0" rIns="0" bIns="45720" rtlCol="0" anchor="b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4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Presentation Title Here</a:t>
            </a:r>
          </a:p>
        </p:txBody>
      </p:sp>
      <p:sp>
        <p:nvSpPr>
          <p:cNvPr id="3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039438" y="2685678"/>
            <a:ext cx="7069512" cy="380873"/>
          </a:xfrm>
        </p:spPr>
        <p:txBody>
          <a:bodyPr anchor="t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Arial" pitchFamily="34" charset="0"/>
              <a:buNone/>
              <a:defRPr sz="2600" i="0" spc="0" baseline="0">
                <a:solidFill>
                  <a:schemeClr val="bg1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75000"/>
              </a:lnSpc>
              <a:spcBef>
                <a:spcPts val="1400"/>
              </a:spcBef>
              <a:buFont typeface="Arial" pitchFamily="34" charset="0"/>
              <a:buNone/>
            </a:pPr>
            <a:r>
              <a:rPr lang="en-US" dirty="0"/>
              <a:t>Subtitle Title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036637" y="3311968"/>
            <a:ext cx="7072313" cy="872001"/>
          </a:xfrm>
        </p:spPr>
        <p:txBody>
          <a:bodyPr vert="horz" wrap="square" lIns="0" tIns="0" rIns="0" bIns="45720" rtlCol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lang="en-US" sz="1800" i="0" baseline="0" dirty="0" smtClean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lang="en-US" sz="1800" dirty="0" smtClean="0">
                <a:latin typeface="+mn-lt"/>
              </a:defRPr>
            </a:lvl2pPr>
            <a:lvl3pPr>
              <a:defRPr lang="en-US" sz="1800" dirty="0" smtClean="0">
                <a:latin typeface="+mn-lt"/>
              </a:defRPr>
            </a:lvl3pPr>
            <a:lvl4pPr>
              <a:defRPr lang="en-US" sz="1800" dirty="0" smtClean="0">
                <a:latin typeface="+mn-lt"/>
              </a:defRPr>
            </a:lvl4pPr>
            <a:lvl5pPr>
              <a:defRPr lang="en-US" sz="1800" dirty="0">
                <a:latin typeface="+mn-lt"/>
              </a:defRPr>
            </a:lvl5pPr>
          </a:lstStyle>
          <a:p>
            <a:pPr marL="0" lvl="0"/>
            <a:r>
              <a:rPr lang="en-US" dirty="0"/>
              <a:t>Presenter’s Name</a:t>
            </a:r>
          </a:p>
          <a:p>
            <a:pPr marL="0" lvl="0"/>
            <a:r>
              <a:rPr lang="en-US" dirty="0"/>
              <a:t>Department Name</a:t>
            </a:r>
          </a:p>
          <a:p>
            <a:pPr marL="0" lvl="0"/>
            <a:r>
              <a:rPr lang="en-US" dirty="0"/>
              <a:t>Presentation Date</a:t>
            </a:r>
          </a:p>
        </p:txBody>
      </p:sp>
      <p:pic>
        <p:nvPicPr>
          <p:cNvPr id="4" name="Picture 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22ECB0BC-81E2-7657-ED1B-DEB6D4FDB0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0477" y="355946"/>
            <a:ext cx="3535363" cy="81497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8D56BE9-ED9B-1FEE-F84B-DA5E5E0CB593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4569620" y="-63500"/>
            <a:ext cx="4725076" cy="5256000"/>
          </a:xfrm>
          <a:prstGeom prst="rect">
            <a:avLst/>
          </a:prstGeom>
          <a:blipFill dpi="0" rotWithShape="1">
            <a:blip r:embed="rId3">
              <a:alphaModFix amt="17000"/>
            </a:blip>
            <a:srcRect/>
            <a:stretch>
              <a:fillRect/>
            </a:stretch>
          </a:blip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IN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9" name="Slide Number Placeholder 10">
            <a:extLst>
              <a:ext uri="{FF2B5EF4-FFF2-40B4-BE49-F238E27FC236}">
                <a16:creationId xmlns:a16="http://schemas.microsoft.com/office/drawing/2014/main" id="{F92A8D1A-8087-B713-B792-1196676E81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66073" y="4861680"/>
            <a:ext cx="514350" cy="326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01032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E61E00C-A024-71C3-971F-1AFA495F9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699680-FAA4-1DB9-3017-2EB126F0B7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197430"/>
            <a:ext cx="8349916" cy="3413072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lang="en-US" sz="2100" b="0" kern="1200" dirty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5pPr>
          </a:lstStyle>
          <a:p>
            <a:pPr lvl="0"/>
            <a:r>
              <a:rPr lang="en-US" dirty="0"/>
              <a:t>Click to edit Master text styles Arial 21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F5B61543-7882-6964-E3B2-96834DF582B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2762" y="691628"/>
            <a:ext cx="8349916" cy="391296"/>
          </a:xfrm>
        </p:spPr>
        <p:txBody>
          <a:bodyPr/>
          <a:lstStyle>
            <a:lvl1pPr marL="0" indent="0">
              <a:buNone/>
              <a:defRPr sz="2400" b="0" baseline="0"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5094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Subhead Arial 24 pt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B1CD1D-46EF-C274-B1E4-D70331800E0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8535503" y="485946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5639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CF311B5-18DE-CC24-B154-2E2E9BBCB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80FBAE2-C3C6-48CA-66CF-D7F40E6E5D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197430"/>
            <a:ext cx="8349916" cy="3413072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lang="en-US" sz="2100" b="0" kern="1200" dirty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5pPr>
          </a:lstStyle>
          <a:p>
            <a:pPr lvl="0"/>
            <a:r>
              <a:rPr lang="en-US" dirty="0"/>
              <a:t>Click to edit Master text styles Arial 21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10">
            <a:extLst>
              <a:ext uri="{FF2B5EF4-FFF2-40B4-BE49-F238E27FC236}">
                <a16:creationId xmlns:a16="http://schemas.microsoft.com/office/drawing/2014/main" id="{280BC2AA-5EE6-7B52-BA8C-83089B779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5503" y="4831733"/>
            <a:ext cx="514350" cy="326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08115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699680-FAA4-1DB9-3017-2EB126F0B7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143000"/>
            <a:ext cx="4129238" cy="3467501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sz="1800"/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C01E633-FAA4-F7B4-3893-A1FFB20A9C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719587" y="1143000"/>
            <a:ext cx="4073090" cy="3467500"/>
          </a:xfrm>
        </p:spPr>
        <p:txBody>
          <a:bodyPr/>
          <a:lstStyle>
            <a:lvl1pPr marL="177800" indent="-177800">
              <a:buClr>
                <a:srgbClr val="005094"/>
              </a:buClr>
              <a:buFont typeface="Wingdings" panose="05000000000000000000" pitchFamily="2" charset="2"/>
              <a:buChar char="§"/>
              <a:defRPr lang="en-US" sz="1800" b="0" kern="1200" dirty="0" smtClean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E827E89-9151-3A74-8245-090B5BDB5693}"/>
              </a:ext>
            </a:extLst>
          </p:cNvPr>
          <p:cNvCxnSpPr>
            <a:cxnSpLocks/>
          </p:cNvCxnSpPr>
          <p:nvPr userDrawn="1"/>
        </p:nvCxnSpPr>
        <p:spPr>
          <a:xfrm>
            <a:off x="4648200" y="1143000"/>
            <a:ext cx="0" cy="346750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3FA46726-0B7D-512C-7067-C9740C6A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lide Number Placeholder 10">
            <a:extLst>
              <a:ext uri="{FF2B5EF4-FFF2-40B4-BE49-F238E27FC236}">
                <a16:creationId xmlns:a16="http://schemas.microsoft.com/office/drawing/2014/main" id="{9A92129A-0811-4A8A-836A-70F8CEA85E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5502" y="4831733"/>
            <a:ext cx="514350" cy="326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76945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699680-FAA4-1DB9-3017-2EB126F0B7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231900"/>
            <a:ext cx="4073091" cy="3378601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sz="1800"/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C01E633-FAA4-F7B4-3893-A1FFB20A9C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719587" y="1231899"/>
            <a:ext cx="4073091" cy="3378601"/>
          </a:xfrm>
        </p:spPr>
        <p:txBody>
          <a:bodyPr/>
          <a:lstStyle>
            <a:lvl1pPr marL="177800" indent="-177800">
              <a:buClr>
                <a:srgbClr val="005094"/>
              </a:buClr>
              <a:buFont typeface="Wingdings" panose="05000000000000000000" pitchFamily="2" charset="2"/>
              <a:buChar char="§"/>
              <a:defRPr lang="en-US" sz="1800" b="0" kern="1200" dirty="0" smtClean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4A16F23-89BB-6D08-1419-74F0F035C8BE}"/>
              </a:ext>
            </a:extLst>
          </p:cNvPr>
          <p:cNvCxnSpPr>
            <a:cxnSpLocks/>
          </p:cNvCxnSpPr>
          <p:nvPr userDrawn="1"/>
        </p:nvCxnSpPr>
        <p:spPr>
          <a:xfrm>
            <a:off x="4615542" y="811374"/>
            <a:ext cx="0" cy="3799126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5CB157-652B-FD48-276D-25DEB55BE62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26793" y="485977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624EA4-4987-93B2-9F41-13E6B95F1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812373A8-F430-2AB4-654C-8FAFF8BC79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2762" y="691628"/>
            <a:ext cx="4068736" cy="391296"/>
          </a:xfrm>
        </p:spPr>
        <p:txBody>
          <a:bodyPr/>
          <a:lstStyle>
            <a:lvl1pPr marL="0" indent="0">
              <a:buNone/>
              <a:defRPr sz="2400" b="0" baseline="0"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5094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Subhead Arial 24 pt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C3B0951-F521-1E5E-E4BC-A9A329C087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5232" y="691628"/>
            <a:ext cx="4068736" cy="391296"/>
          </a:xfrm>
        </p:spPr>
        <p:txBody>
          <a:bodyPr/>
          <a:lstStyle>
            <a:lvl1pPr marL="0" indent="0">
              <a:buNone/>
              <a:defRPr sz="2400" b="0" baseline="0"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5094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Subhead Arial 24 pt</a:t>
            </a:r>
          </a:p>
        </p:txBody>
      </p:sp>
    </p:spTree>
    <p:extLst>
      <p:ext uri="{BB962C8B-B14F-4D97-AF65-F5344CB8AC3E}">
        <p14:creationId xmlns:p14="http://schemas.microsoft.com/office/powerpoint/2010/main" val="925118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6C6F62-ED0F-2FA7-A0A0-9AE79283E8FF}"/>
              </a:ext>
            </a:extLst>
          </p:cNvPr>
          <p:cNvSpPr/>
          <p:nvPr userDrawn="1"/>
        </p:nvSpPr>
        <p:spPr bwMode="auto">
          <a:xfrm>
            <a:off x="4719588" y="1143000"/>
            <a:ext cx="4073090" cy="36766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IN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699680-FAA4-1DB9-3017-2EB126F0B7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143000"/>
            <a:ext cx="4129238" cy="3467501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sz="1800"/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C01E633-FAA4-F7B4-3893-A1FFB20A9C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719587" y="1143000"/>
            <a:ext cx="4073090" cy="3467500"/>
          </a:xfrm>
        </p:spPr>
        <p:txBody>
          <a:bodyPr/>
          <a:lstStyle>
            <a:lvl1pPr marL="177800" indent="-177800">
              <a:buClr>
                <a:srgbClr val="005094"/>
              </a:buClr>
              <a:buFont typeface="Wingdings" panose="05000000000000000000" pitchFamily="2" charset="2"/>
              <a:buChar char="§"/>
              <a:defRPr lang="en-US" sz="1800" b="0" kern="1200" dirty="0" smtClean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E827E89-9151-3A74-8245-090B5BDB5693}"/>
              </a:ext>
            </a:extLst>
          </p:cNvPr>
          <p:cNvCxnSpPr>
            <a:cxnSpLocks/>
          </p:cNvCxnSpPr>
          <p:nvPr userDrawn="1"/>
        </p:nvCxnSpPr>
        <p:spPr>
          <a:xfrm>
            <a:off x="4648200" y="1143000"/>
            <a:ext cx="0" cy="346750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3FA46726-0B7D-512C-7067-C9740C6A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7">
            <a:extLst>
              <a:ext uri="{FF2B5EF4-FFF2-40B4-BE49-F238E27FC236}">
                <a16:creationId xmlns:a16="http://schemas.microsoft.com/office/drawing/2014/main" id="{33CB75A5-C7CB-2DB8-4C55-16FC38CE16D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2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1494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FF3B42D-C50E-33BB-B7E9-3C8F2C8CDE29}"/>
              </a:ext>
            </a:extLst>
          </p:cNvPr>
          <p:cNvSpPr/>
          <p:nvPr userDrawn="1"/>
        </p:nvSpPr>
        <p:spPr bwMode="auto">
          <a:xfrm>
            <a:off x="442761" y="1143000"/>
            <a:ext cx="8349917" cy="36703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IN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F23D3D4-9F97-9AAC-983C-38984737415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42761" y="1143000"/>
            <a:ext cx="8349916" cy="3467500"/>
          </a:xfrm>
        </p:spPr>
        <p:txBody>
          <a:bodyPr/>
          <a:lstStyle>
            <a:lvl1pPr marL="177800" indent="-177800">
              <a:buClr>
                <a:srgbClr val="005094"/>
              </a:buClr>
              <a:buFont typeface="Wingdings" panose="05000000000000000000" pitchFamily="2" charset="2"/>
              <a:buChar char="§"/>
              <a:defRPr lang="en-US" sz="1800" b="0" kern="1200" dirty="0" smtClean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1237F"/>
              </a:buClr>
              <a:buSzTx/>
              <a:buFontTx/>
              <a:buNone/>
              <a:tabLst/>
              <a:defRPr/>
            </a:pPr>
            <a:r>
              <a:rPr lang="en-US" dirty="0"/>
              <a:t>Subhead Arial 21 pt</a:t>
            </a:r>
            <a:endParaRPr lang="en-I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1237F"/>
              </a:buClr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18EDF24D-2644-DA9D-EFD0-4B9BBBE3733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5502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300C8CE-3F16-A12B-7A24-DA8017CA8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2964950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2B372A-77B5-31B3-E290-AB03B8680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7">
            <a:extLst>
              <a:ext uri="{FF2B5EF4-FFF2-40B4-BE49-F238E27FC236}">
                <a16:creationId xmlns:a16="http://schemas.microsoft.com/office/drawing/2014/main" id="{29FCD054-2ACB-3400-A961-62B89EF0092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3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09040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7">
            <a:extLst>
              <a:ext uri="{FF2B5EF4-FFF2-40B4-BE49-F238E27FC236}">
                <a16:creationId xmlns:a16="http://schemas.microsoft.com/office/drawing/2014/main" id="{550F4DCF-0EC0-663F-41C6-AC6F61393C5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3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36639" y="998545"/>
            <a:ext cx="7072312" cy="2169825"/>
          </a:xfrm>
        </p:spPr>
        <p:txBody>
          <a:bodyPr vert="horz" wrap="square" lIns="91440" tIns="45720" rIns="91440" bIns="45720" rtlCol="0" anchor="b" anchorCtr="0">
            <a:spAutoFit/>
          </a:bodyPr>
          <a:lstStyle>
            <a:lvl1pPr marL="280988" indent="-91440">
              <a:lnSpc>
                <a:spcPct val="90000"/>
              </a:lnSpc>
              <a:defRPr lang="en-US" sz="3000" kern="2200" spc="0" baseline="0" dirty="0">
                <a:latin typeface="+mn-lt"/>
              </a:defRPr>
            </a:lvl1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, semper </a:t>
            </a:r>
            <a:r>
              <a:rPr lang="en-US" dirty="0" err="1"/>
              <a:t>odio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Proin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 ipsum mi, ac </a:t>
            </a:r>
            <a:r>
              <a:rPr lang="en-US" dirty="0" err="1"/>
              <a:t>sodales</a:t>
            </a:r>
            <a:r>
              <a:rPr lang="en-US" dirty="0"/>
              <a:t> </a:t>
            </a:r>
            <a:r>
              <a:rPr lang="en-US" dirty="0" err="1"/>
              <a:t>tellus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dolor.”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036637" y="3383309"/>
            <a:ext cx="7072313" cy="541425"/>
          </a:xfrm>
        </p:spPr>
        <p:txBody>
          <a:bodyPr vert="horz" wrap="square" lIns="91440" tIns="45720" rIns="91440" bIns="45720" rtlCol="0">
            <a:noAutofit/>
          </a:bodyPr>
          <a:lstStyle>
            <a:lvl1pPr marL="0" indent="0" algn="r">
              <a:spcBef>
                <a:spcPts val="300"/>
              </a:spcBef>
              <a:buNone/>
              <a:defRPr lang="en-US" sz="1800" baseline="0" dirty="0" smtClean="0">
                <a:solidFill>
                  <a:srgbClr val="525252"/>
                </a:solidFill>
                <a:latin typeface="+mn-lt"/>
              </a:defRPr>
            </a:lvl1pPr>
            <a:lvl2pPr marL="230187" indent="0">
              <a:buNone/>
              <a:defRPr lang="en-US" dirty="0" smtClean="0"/>
            </a:lvl2pPr>
            <a:lvl3pPr marL="515937" indent="0">
              <a:buNone/>
              <a:defRPr lang="en-US" dirty="0" smtClean="0"/>
            </a:lvl3pPr>
            <a:lvl4pPr marL="800100" indent="0">
              <a:buNone/>
              <a:defRPr lang="en-US" dirty="0" smtClean="0"/>
            </a:lvl4pPr>
            <a:lvl5pPr marL="1085850" indent="0">
              <a:buNone/>
              <a:defRPr lang="en-US" dirty="0"/>
            </a:lvl5pPr>
          </a:lstStyle>
          <a:p>
            <a:pPr lvl="0"/>
            <a:r>
              <a:rPr lang="en-US" dirty="0"/>
              <a:t>—Author’s Name</a:t>
            </a:r>
          </a:p>
        </p:txBody>
      </p:sp>
      <p:sp>
        <p:nvSpPr>
          <p:cNvPr id="5" name="Slide Number Placeholder 7">
            <a:extLst>
              <a:ext uri="{FF2B5EF4-FFF2-40B4-BE49-F238E27FC236}">
                <a16:creationId xmlns:a16="http://schemas.microsoft.com/office/drawing/2014/main" id="{DD649393-7F7F-376A-0550-E4D3CFFD7A9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3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213682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CEE34C1-3461-53B5-31B6-6C5EA7C7518D}"/>
              </a:ext>
            </a:extLst>
          </p:cNvPr>
          <p:cNvSpPr/>
          <p:nvPr userDrawn="1"/>
        </p:nvSpPr>
        <p:spPr bwMode="auto">
          <a:xfrm>
            <a:off x="0" y="0"/>
            <a:ext cx="9143999" cy="5143500"/>
          </a:xfrm>
          <a:prstGeom prst="rect">
            <a:avLst/>
          </a:prstGeom>
          <a:solidFill>
            <a:srgbClr val="005094"/>
          </a:soli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US" sz="1600" b="1" dirty="0" err="1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6" name="Picture 5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3BC0876D-534B-C445-D5AC-3F90E89F50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0477" y="355946"/>
            <a:ext cx="3535363" cy="814976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A8F41F8-F19F-D315-422E-A1602CCDB2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6637" y="2445200"/>
            <a:ext cx="6950076" cy="517065"/>
          </a:xfrm>
        </p:spPr>
        <p:txBody>
          <a:bodyPr/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3D7F17-64E9-A89C-A05F-98433E474297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4569620" y="-63500"/>
            <a:ext cx="4725076" cy="5256000"/>
          </a:xfrm>
          <a:prstGeom prst="rect">
            <a:avLst/>
          </a:prstGeom>
          <a:blipFill dpi="0" rotWithShape="1">
            <a:blip r:embed="rId3">
              <a:alphaModFix amt="17000"/>
            </a:blip>
            <a:srcRect/>
            <a:stretch>
              <a:fillRect/>
            </a:stretch>
          </a:blip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IN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AF9A6E86-2C50-5A08-8E59-26135CF1280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3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982737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rgbClr val="005093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525252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11125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/>
          </a:p>
        </p:txBody>
      </p:sp>
    </p:spTree>
    <p:extLst>
      <p:ext uri="{BB962C8B-B14F-4D97-AF65-F5344CB8AC3E}">
        <p14:creationId xmlns:p14="http://schemas.microsoft.com/office/powerpoint/2010/main" val="2849722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 bwMode="auto">
          <a:xfrm>
            <a:off x="-2" y="4817444"/>
            <a:ext cx="9143999" cy="326056"/>
          </a:xfrm>
          <a:prstGeom prst="rect">
            <a:avLst/>
          </a:prstGeom>
          <a:gradFill flip="none" rotWithShape="1">
            <a:gsLst>
              <a:gs pos="0">
                <a:srgbClr val="005094"/>
              </a:gs>
              <a:gs pos="50000">
                <a:srgbClr val="005094"/>
              </a:gs>
              <a:gs pos="75000">
                <a:srgbClr val="3A195B"/>
              </a:gs>
            </a:gsLst>
            <a:path path="circle">
              <a:fillToRect l="100000" t="100000"/>
            </a:path>
            <a:tileRect r="-100000" b="-100000"/>
          </a:gra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l">
              <a:lnSpc>
                <a:spcPct val="90000"/>
              </a:lnSpc>
            </a:pPr>
            <a:endParaRPr lang="en-US" sz="1200" b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6638" y="633475"/>
            <a:ext cx="7072312" cy="438582"/>
          </a:xfrm>
          <a:prstGeom prst="rect">
            <a:avLst/>
          </a:prstGeom>
        </p:spPr>
        <p:txBody>
          <a:bodyPr vert="horz" wrap="square" lIns="0" tIns="0" rIns="0" bIns="45720" rtlCol="0" anchor="t" anchorCtr="0">
            <a:spAutoFit/>
          </a:bodyPr>
          <a:lstStyle/>
          <a:p>
            <a:r>
              <a:rPr lang="en-US" dirty="0"/>
              <a:t>Slide Title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6638" y="1108347"/>
            <a:ext cx="7072312" cy="3171045"/>
          </a:xfrm>
          <a:prstGeom prst="rect">
            <a:avLst/>
          </a:prstGeom>
        </p:spPr>
        <p:txBody>
          <a:bodyPr vert="horz" wrap="square" lIns="0" tIns="0" rIns="0" bIns="45720" rtlCol="0">
            <a:noAutofit/>
          </a:bodyPr>
          <a:lstStyle/>
          <a:p>
            <a:pPr lvl="0"/>
            <a:r>
              <a:rPr lang="en-US" dirty="0"/>
              <a:t>Click to edit bullet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9" name="Picture 8" descr="A blue and black logo&#10;&#10;Description automatically generated">
            <a:extLst>
              <a:ext uri="{FF2B5EF4-FFF2-40B4-BE49-F238E27FC236}">
                <a16:creationId xmlns:a16="http://schemas.microsoft.com/office/drawing/2014/main" id="{56EBD2BB-939E-8183-DA57-9EBF0EB8BEC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/>
          <a:srcRect r="74035"/>
          <a:stretch/>
        </p:blipFill>
        <p:spPr>
          <a:xfrm>
            <a:off x="8366780" y="118792"/>
            <a:ext cx="712936" cy="720000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9E92E5-B5F9-59B9-2C09-DCBBBD1447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66073" y="4932002"/>
            <a:ext cx="514350" cy="326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0F8A716-9FA3-C8CF-6294-DA0CD42E76CF}"/>
              </a:ext>
            </a:extLst>
          </p:cNvPr>
          <p:cNvCxnSpPr/>
          <p:nvPr userDrawn="1"/>
        </p:nvCxnSpPr>
        <p:spPr>
          <a:xfrm>
            <a:off x="0" y="1078706"/>
            <a:ext cx="9144000" cy="0"/>
          </a:xfrm>
          <a:prstGeom prst="line">
            <a:avLst/>
          </a:prstGeom>
          <a:ln w="9525">
            <a:solidFill>
              <a:srgbClr val="3A195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14" r:id="rId1"/>
    <p:sldLayoutId id="2147484015" r:id="rId2"/>
    <p:sldLayoutId id="2147484028" r:id="rId3"/>
    <p:sldLayoutId id="2147484023" r:id="rId4"/>
    <p:sldLayoutId id="2147484025" r:id="rId5"/>
    <p:sldLayoutId id="2147484030" r:id="rId6"/>
    <p:sldLayoutId id="2147484029" r:id="rId7"/>
    <p:sldLayoutId id="2147484027" r:id="rId8"/>
    <p:sldLayoutId id="2147483944" r:id="rId9"/>
    <p:sldLayoutId id="2147483940" r:id="rId10"/>
    <p:sldLayoutId id="2147483947" r:id="rId11"/>
    <p:sldLayoutId id="2147484031" r:id="rId12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lang="en-US" sz="3000" b="0" kern="1200" cap="none" spc="0" baseline="0" dirty="0" smtClean="0">
          <a:solidFill>
            <a:srgbClr val="005094"/>
          </a:solidFill>
          <a:latin typeface="+mj-lt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168275" indent="-168275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Wingdings" panose="05000000000000000000" pitchFamily="2" charset="2"/>
        <a:buChar char="§"/>
        <a:defRPr lang="en-US" sz="1800" b="0" kern="1200" dirty="0" smtClean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1pPr>
      <a:lvl2pPr marL="457200" indent="-227013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Arial" panose="020B0604020202020204" pitchFamily="34" charset="0"/>
        <a:buChar char="•"/>
        <a:defRPr lang="en-US" sz="1800" b="0" kern="1200" dirty="0" smtClean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2pPr>
      <a:lvl3pPr marL="742950" indent="-227013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Arial" panose="020B0604020202020204" pitchFamily="34" charset="0"/>
        <a:buChar char="•"/>
        <a:defRPr lang="en-US" sz="1800" b="0" kern="1200" dirty="0" smtClean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3pPr>
      <a:lvl4pPr marL="10287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Arial" panose="020B0604020202020204" pitchFamily="34" charset="0"/>
        <a:buChar char="•"/>
        <a:defRPr lang="en-US" sz="1800" b="0" kern="1200" dirty="0" smtClean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4pPr>
      <a:lvl5pPr marL="1312863" indent="-227013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Arial" panose="020B0604020202020204" pitchFamily="34" charset="0"/>
        <a:buChar char="•"/>
        <a:defRPr lang="en-US" sz="1800" b="0" kern="1200" dirty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697F3F-9EED-8F52-2E31-5C593DDC36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1</a:t>
            </a:fld>
            <a:endParaRPr lang="en-IN" dirty="0"/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8C1951C4-93AE-4DB7-B5EA-49D22832BB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3666" y="1391077"/>
            <a:ext cx="8791510" cy="424347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 marR="5080">
              <a:lnSpc>
                <a:spcPct val="136200"/>
              </a:lnSpc>
              <a:spcBef>
                <a:spcPts val="100"/>
              </a:spcBef>
            </a:pPr>
            <a:r>
              <a:rPr lang="en-IN" sz="2200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CAPSTONE PROJECT REVIEW </a:t>
            </a:r>
            <a:r>
              <a:rPr lang="en-IN" sz="2200" spc="-1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I</a:t>
            </a:r>
            <a:endParaRPr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bject 5">
            <a:extLst>
              <a:ext uri="{FF2B5EF4-FFF2-40B4-BE49-F238E27FC236}">
                <a16:creationId xmlns:a16="http://schemas.microsoft.com/office/drawing/2014/main" id="{174A5FDC-374E-4C44-807E-379B8C1A7C48}"/>
              </a:ext>
            </a:extLst>
          </p:cNvPr>
          <p:cNvSpPr txBox="1"/>
          <p:nvPr/>
        </p:nvSpPr>
        <p:spPr>
          <a:xfrm>
            <a:off x="123666" y="2107982"/>
            <a:ext cx="9052825" cy="355225"/>
          </a:xfrm>
          <a:prstGeom prst="rect">
            <a:avLst/>
          </a:prstGeom>
        </p:spPr>
        <p:txBody>
          <a:bodyPr vert="horz" wrap="square" lIns="0" tIns="16510" rIns="0" bIns="0" rtlCol="0" anchor="t">
            <a:spAutoFit/>
          </a:bodyPr>
          <a:lstStyle/>
          <a:p>
            <a:pPr marL="12700">
              <a:spcBef>
                <a:spcPts val="130"/>
              </a:spcBef>
            </a:pPr>
            <a:r>
              <a:rPr lang="en-GB" sz="2200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Smart Attendance and Interactive Learning Ecosystem.</a:t>
            </a:r>
            <a:endParaRPr lang="en-US" sz="2200" spc="-1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1B52336-9937-42CE-9CD3-1A9FFF08020F}"/>
              </a:ext>
            </a:extLst>
          </p:cNvPr>
          <p:cNvSpPr txBox="1"/>
          <p:nvPr/>
        </p:nvSpPr>
        <p:spPr>
          <a:xfrm>
            <a:off x="123666" y="3860550"/>
            <a:ext cx="6933202" cy="1119922"/>
          </a:xfrm>
          <a:prstGeom prst="rect">
            <a:avLst/>
          </a:prstGeom>
        </p:spPr>
        <p:txBody>
          <a:bodyPr vert="horz" wrap="square" lIns="0" tIns="16510" rIns="0" bIns="0" rtlCol="0" anchor="t">
            <a:spAutoFit/>
          </a:bodyPr>
          <a:lstStyle/>
          <a:p>
            <a:pPr marL="12700" marR="1725295">
              <a:lnSpc>
                <a:spcPct val="100899"/>
              </a:lnSpc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</a:t>
            </a:r>
          </a:p>
          <a:p>
            <a:pPr marL="12700" marR="1725295">
              <a:lnSpc>
                <a:spcPct val="100899"/>
              </a:lnSpc>
            </a:pPr>
            <a:r>
              <a:rPr lang="en-US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Tavva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Sandeep Kumar Reddy(</a:t>
            </a:r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23951A66H0)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</a:p>
          <a:p>
            <a:pPr marL="12700" marR="1725295">
              <a:lnSpc>
                <a:spcPct val="100899"/>
              </a:lnSpc>
            </a:pPr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Pavan 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23951A66C0)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</a:p>
          <a:p>
            <a:pPr marL="12700" marR="1725295">
              <a:lnSpc>
                <a:spcPct val="100899"/>
              </a:lnSpc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Kishore(24955A6651).</a:t>
            </a:r>
            <a:endParaRPr lang="en-US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FF5F14-B7D7-4625-A8EF-1B0BE817536D}"/>
              </a:ext>
            </a:extLst>
          </p:cNvPr>
          <p:cNvSpPr txBox="1"/>
          <p:nvPr/>
        </p:nvSpPr>
        <p:spPr bwMode="auto">
          <a:xfrm>
            <a:off x="5788180" y="3701244"/>
            <a:ext cx="3388311" cy="1200329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  </a:t>
            </a:r>
          </a:p>
          <a:p>
            <a:r>
              <a:rPr lang="en-GB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Shaik </a:t>
            </a:r>
            <a:r>
              <a:rPr lang="en-GB" spc="-1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Jakeer</a:t>
            </a:r>
            <a:r>
              <a:rPr lang="en-GB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Hussain, Associate Professor</a:t>
            </a:r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 – (AI &amp; ML).</a:t>
            </a:r>
            <a:endParaRPr lang="en-IN" dirty="0"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951E22A2-205D-43E4-85C7-5AF3D8EA7555}"/>
              </a:ext>
            </a:extLst>
          </p:cNvPr>
          <p:cNvSpPr txBox="1">
            <a:spLocks/>
          </p:cNvSpPr>
          <p:nvPr/>
        </p:nvSpPr>
        <p:spPr>
          <a:xfrm>
            <a:off x="123666" y="3351725"/>
            <a:ext cx="8791510" cy="349519"/>
          </a:xfrm>
          <a:prstGeom prst="rect">
            <a:avLst/>
          </a:prstGeom>
        </p:spPr>
        <p:txBody>
          <a:bodyPr vert="horz" wrap="square" lIns="0" tIns="12700" rIns="0" bIns="0" rtlCol="0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4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12700" marR="5080">
              <a:lnSpc>
                <a:spcPct val="136200"/>
              </a:lnSpc>
              <a:spcBef>
                <a:spcPts val="100"/>
              </a:spcBef>
            </a:pPr>
            <a:r>
              <a:rPr lang="en-IN" sz="1800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BATCH NUMBER: 17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5748509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2000" y="1071012"/>
            <a:ext cx="0" cy="3467735"/>
          </a:xfrm>
          <a:custGeom>
            <a:avLst/>
            <a:gdLst/>
            <a:ahLst/>
            <a:cxnLst/>
            <a:rect l="l" t="t" r="r" b="b"/>
            <a:pathLst>
              <a:path h="3467735">
                <a:moveTo>
                  <a:pt x="0" y="0"/>
                </a:moveTo>
                <a:lnTo>
                  <a:pt x="0" y="3467493"/>
                </a:lnTo>
              </a:path>
            </a:pathLst>
          </a:custGeom>
          <a:ln w="19050">
            <a:solidFill>
              <a:srgbClr val="005093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63653" y="1071012"/>
            <a:ext cx="4612850" cy="4459554"/>
          </a:xfrm>
          <a:prstGeom prst="rect">
            <a:avLst/>
          </a:prstGeom>
        </p:spPr>
        <p:txBody>
          <a:bodyPr vert="horz" wrap="square" lIns="0" tIns="88265" rIns="0" bIns="0" rtlCol="0" anchor="t">
            <a:spAutoFit/>
          </a:bodyPr>
          <a:lstStyle/>
          <a:p>
            <a:pPr marL="283845" indent="-271145">
              <a:spcBef>
                <a:spcPts val="695"/>
              </a:spcBef>
              <a:buClr>
                <a:srgbClr val="005093"/>
              </a:buClr>
              <a:buFont typeface="Wingdings"/>
              <a:buChar char=""/>
              <a:tabLst>
                <a:tab pos="283845" algn="l"/>
              </a:tabLst>
            </a:pPr>
            <a:r>
              <a:rPr lang="en-US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REVIEW – 1: 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GB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GB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GB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 Solutions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GB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Gaps in Existing Solutions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GB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Work (Techniques &amp; Approaches)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GB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GB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Experiments Planned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GB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Expected Results or Outcomes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GB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GB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1600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endParaRPr lang="en-US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>
              <a:lnSpc>
                <a:spcPct val="100000"/>
              </a:lnSpc>
              <a:spcBef>
                <a:spcPts val="695"/>
              </a:spcBef>
              <a:buClr>
                <a:srgbClr val="005093"/>
              </a:buClr>
              <a:tabLst>
                <a:tab pos="283845" algn="l"/>
              </a:tabLst>
            </a:pPr>
            <a:endParaRPr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63653" y="372218"/>
            <a:ext cx="7072312" cy="475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90">
              <a:lnSpc>
                <a:spcPct val="100000"/>
              </a:lnSpc>
              <a:spcBef>
                <a:spcPts val="105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r>
              <a:rPr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64132" y="1178469"/>
            <a:ext cx="3495675" cy="3467100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676E399F-55E0-4BDB-951D-6A5B065C3946}"/>
              </a:ext>
            </a:extLst>
          </p:cNvPr>
          <p:cNvSpPr txBox="1">
            <a:spLocks/>
          </p:cNvSpPr>
          <p:nvPr/>
        </p:nvSpPr>
        <p:spPr>
          <a:xfrm>
            <a:off x="8629650" y="4817444"/>
            <a:ext cx="514350" cy="32605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B327F5A-7D8F-4012-9A1A-2197D74A174F}" type="slidenum">
              <a:rPr lang="en-IN" sz="1200" smtClean="0">
                <a:solidFill>
                  <a:schemeClr val="bg1"/>
                </a:solidFill>
              </a:rPr>
              <a:pPr algn="r"/>
              <a:t>2</a:t>
            </a:fld>
            <a:endParaRPr lang="en-IN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08DF6-BB8D-EB7D-A897-C62BB2785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56229C-17B0-DD49-D9E2-25C95A828D9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3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128ED3D5-034D-6893-A99A-724D55E1C53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GB" dirty="0"/>
              <a:t>Abstract</a:t>
            </a:r>
            <a:endParaRPr lang="en-IN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2368B-E13A-9B2D-0629-35B54AC5AC9B}"/>
              </a:ext>
            </a:extLst>
          </p:cNvPr>
          <p:cNvSpPr txBox="1"/>
          <p:nvPr/>
        </p:nvSpPr>
        <p:spPr bwMode="auto">
          <a:xfrm>
            <a:off x="243840" y="1294477"/>
            <a:ext cx="8133805" cy="2554545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proposes the </a:t>
            </a: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Institutional Management &amp; Engagement System (SIMES)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an integrated multi-role ecosystem (Admin, Faculty, Student) designed to modernize institutional administration and enhance student engagement. The system enables seamless attendance automation through a </a:t>
            </a: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triple-mode approach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—incorporating QR scanning, traditional manual entries, and a </a:t>
            </a: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Natural Language Processing (NLP) chatbot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for conversational bulk attendance marking. Beyond administrative tracking, SIMES integrates a </a:t>
            </a: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gamified coding leaderboard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motivate student technical skill development through real-time rank visibility. By synchronizing master timetables with live performance analytics, the platform provides a proactive, affordable, and transparent academic environment, aiming to improve the overall quality of institutional management for all stakeholders.</a:t>
            </a:r>
          </a:p>
        </p:txBody>
      </p:sp>
    </p:spTree>
    <p:extLst>
      <p:ext uri="{BB962C8B-B14F-4D97-AF65-F5344CB8AC3E}">
        <p14:creationId xmlns:p14="http://schemas.microsoft.com/office/powerpoint/2010/main" val="251238102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5A6C9-9055-6573-8A0E-0EF1A6921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FA0E39-C8B9-C3E6-FAAF-D432EEBDFD5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4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B00C785-CAE1-CB02-AC39-33FE09262376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GB" dirty="0"/>
              <a:t>Problem Statement</a:t>
            </a:r>
            <a:endParaRPr lang="en-IN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A46822-ADC1-ED1C-4454-10CD7B5879AB}"/>
              </a:ext>
            </a:extLst>
          </p:cNvPr>
          <p:cNvSpPr txBox="1"/>
          <p:nvPr/>
        </p:nvSpPr>
        <p:spPr bwMode="auto">
          <a:xfrm>
            <a:off x="278673" y="1250581"/>
            <a:ext cx="8098972" cy="3046988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Traditional institutional management faces significant operational challenges due to manual roll-call attendance processes, which are not only time-consuming but also highly prone to human error and proxy entries . This inefficiency is compounded by severe data fragmentation, where class schedules, attendance logs, and student performance metrics are stored in disconnected silos, preventing a unified, "360-degree" view of student progress and institutional operations . Furthermore, most current systems are purely reactive, focusing on historical tracking rather than utilizing proactive tools like real-time monitoring and gamified leaderboards to drive student engagement and technical competency . Finally, limited accessibility to timely academic data and a lack of integrated, automated support for managing user credentials and dynamic schedules hinder the productivity of students, faculty, and administrators, highlighting a critical need for a more intelligent and cohesive management ecosystem</a:t>
            </a:r>
          </a:p>
        </p:txBody>
      </p:sp>
    </p:spTree>
    <p:extLst>
      <p:ext uri="{BB962C8B-B14F-4D97-AF65-F5344CB8AC3E}">
        <p14:creationId xmlns:p14="http://schemas.microsoft.com/office/powerpoint/2010/main" val="3353282179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A38FC-29C1-E364-537E-3B08D4565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5821BF-1083-27CD-1111-984C3C8B679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5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0DE1E5D0-165E-509D-0E70-D69A3FDECCC5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GB" dirty="0"/>
              <a:t>Existing Solutions</a:t>
            </a:r>
            <a:endParaRPr lang="en-IN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9E5EF11-3872-86B1-A55D-DB1FA9606E12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91440" y="1346876"/>
            <a:ext cx="8961120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Manual Registers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High error rates and physical storage requirements.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Biometric/Standalone QR Apps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Often lack role-based administrative control or backup attendance modes.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Basic LMS Platforms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Focus on document sharing but do not integrate real-time scheduling with attendance.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Separate Coding Platforms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Performance is tracked externally and never linked to institutional records.</a:t>
            </a:r>
          </a:p>
        </p:txBody>
      </p:sp>
    </p:spTree>
    <p:extLst>
      <p:ext uri="{BB962C8B-B14F-4D97-AF65-F5344CB8AC3E}">
        <p14:creationId xmlns:p14="http://schemas.microsoft.com/office/powerpoint/2010/main" val="181048634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D2B77-647A-5520-2C3E-E40BF58E5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01C23B-163E-FD75-6ECE-E56DE0F283F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6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9AB41BDA-CC94-30B7-03B3-3372EBEF4E7B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GB" dirty="0"/>
              <a:t>Gaps in Existing Solutions</a:t>
            </a:r>
            <a:endParaRPr lang="en-IN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E9F32C3-F316-E335-501E-A6749D0C8A26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039" y="1263348"/>
            <a:ext cx="829535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Lack of Proactive Automation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Most systems require repetitive manual clicks; few support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NLP-based transactional commands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bulk attendance.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Poor Interoperability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Fitness between the master timetable and daily student schedules is often missing.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Zero Gamification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Systems are purely administrative and do not utilize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leaderboards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 drive competition.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Limited Admin Control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Admins often cannot modify logs or manage student credentials directly through a unified portal.</a:t>
            </a:r>
          </a:p>
        </p:txBody>
      </p:sp>
    </p:spTree>
    <p:extLst>
      <p:ext uri="{BB962C8B-B14F-4D97-AF65-F5344CB8AC3E}">
        <p14:creationId xmlns:p14="http://schemas.microsoft.com/office/powerpoint/2010/main" val="32357207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7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GB" dirty="0"/>
              <a:t>Proposed Work (Techniques &amp; Approaches)</a:t>
            </a:r>
            <a:endParaRPr lang="en-IN" b="1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D702395-8768-8F41-D9F5-22DD7949F0A2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229325" y="1198399"/>
            <a:ext cx="8109857" cy="16927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Hybrid Attendance Engine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Implementing QR scanning for speed, manual entry for flexibility, and an </a:t>
            </a: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NLP Chatbot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efficient text-based bulk marking (e.g., "Roll X absent, others present").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3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Gamification Module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A real-time </a:t>
            </a: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Coding Leaderboard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that aggregates student technical scores onto their daily dashboards to foster engagement.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3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Master Scheduling System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A centralized timetable logic that automatically populates role-specific "Today's Schedule" for all users.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DBAA2E4-BC27-938F-CAB9-B701F8535D80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229325" y="2855368"/>
            <a:ext cx="9051835" cy="1892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Multi-Role Dashboards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3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Master Timetable, global logs, and record modification.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3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Faculty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Attendance analysis, NLP assistant, and credential reset tools.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3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Student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Personal QR profile, attendance metrics, and leaderboard standing.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3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Secure Backend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A Node.js ecosystem with MongoDB for real-time synchronization and JWT for secure access.</a:t>
            </a:r>
          </a:p>
        </p:txBody>
      </p:sp>
    </p:spTree>
    <p:extLst>
      <p:ext uri="{BB962C8B-B14F-4D97-AF65-F5344CB8AC3E}">
        <p14:creationId xmlns:p14="http://schemas.microsoft.com/office/powerpoint/2010/main" val="176549069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65995-559E-8EA3-3DC0-D1252C68E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750BE3-4B65-317D-7742-BBC53CE7312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8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2719171A-B92E-4E1A-8CFD-7B9315F09FDD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GB" dirty="0"/>
              <a:t>Objectives</a:t>
            </a:r>
            <a:endParaRPr lang="en-IN" b="1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D815753-089D-E656-93C1-D8F1E65FF9A6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5314" y="1313085"/>
            <a:ext cx="901337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design a triple-mode attendance system that reduces marking time by over 80%.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an NLP-based assistant for faculty to handle attendance corrections and bulk entries effortlessly.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integrate gamified coding leaderboards directly into the institutional management workflow.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provide administrators with a "Master Control" dashboard for total oversight of schedules and records.</a:t>
            </a:r>
          </a:p>
        </p:txBody>
      </p:sp>
    </p:spTree>
    <p:extLst>
      <p:ext uri="{BB962C8B-B14F-4D97-AF65-F5344CB8AC3E}">
        <p14:creationId xmlns:p14="http://schemas.microsoft.com/office/powerpoint/2010/main" val="102220884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60320-F17A-E107-500E-51C40528C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4E1794-51E0-C52E-042A-9B55878E845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9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4BAE409D-C157-7064-BFF0-78EBEC038A3D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GB" dirty="0"/>
              <a:t>Experiments Planned</a:t>
            </a:r>
            <a:endParaRPr lang="en-IN" b="1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4092E03-4657-71F6-FDBD-527314A27B52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039" y="1294477"/>
            <a:ext cx="8982167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NLP Command Accuracy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Testing the text-parser's ability to identify roll numbers and intents across various sentence structures.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QR Scan Latency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Measuring the time taken from a mobile scan to a database update.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Role-Based Access Control (RBAC)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Validating that data privacy is maintained across Admin, Faculty, and Student roles.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Leaderboard Scaling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Ensuring real-time ranking updates do not degrade system performance under high traffic.</a:t>
            </a:r>
          </a:p>
        </p:txBody>
      </p:sp>
    </p:spTree>
    <p:extLst>
      <p:ext uri="{BB962C8B-B14F-4D97-AF65-F5344CB8AC3E}">
        <p14:creationId xmlns:p14="http://schemas.microsoft.com/office/powerpoint/2010/main" val="2151633028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64D51-9F34-9E41-9876-B140E14BB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3A8204D-52AC-ADF7-4E32-D70206388ED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10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3333397D-98BE-270D-F6FA-3A095E1560CF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939359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en-GB" dirty="0"/>
              <a:t>Expected Results or Outcomes</a:t>
            </a:r>
          </a:p>
          <a:p>
            <a:pPr marL="45085">
              <a:lnSpc>
                <a:spcPct val="100000"/>
              </a:lnSpc>
              <a:spcBef>
                <a:spcPts val="105"/>
              </a:spcBef>
            </a:pPr>
            <a:endParaRPr lang="en-IN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AC241F5-A0BE-647C-1C27-656D5657D0EC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87085" y="1294477"/>
            <a:ext cx="8969829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Operational Efficiency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Significant reduction in time spent on attendance and administrative record-keeping.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Improved Engagement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Measurable increase in student coding activity due to leaderboard visibility.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Accuracy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100% record integrity through the Admin's ability to correct logs and modify timetables.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Synchronized Ecosystem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A single source of truth for all institutional data (Schedule + Attendance + Performance).</a:t>
            </a:r>
          </a:p>
        </p:txBody>
      </p:sp>
    </p:spTree>
    <p:extLst>
      <p:ext uri="{BB962C8B-B14F-4D97-AF65-F5344CB8AC3E}">
        <p14:creationId xmlns:p14="http://schemas.microsoft.com/office/powerpoint/2010/main" val="2653941675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11</a:t>
            </a:fld>
            <a:endParaRPr lang="en-IN" dirty="0"/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4462B516-B181-44D2-B7A3-261E57E1DFDE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GB" dirty="0"/>
              <a:t>Conclusion</a:t>
            </a:r>
            <a:endParaRPr lang="en-IN" b="1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FA6E10E-FC71-E057-C72C-7F771E108940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0" y="1360976"/>
            <a:ext cx="9025128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US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 a Comprehensive Solution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Unlike isolated apps, it creates a unified ecosystem for management and student success.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Directly Addresses Gaps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It solves the problems of fragmentation, click-fatigue, and low engagement through NLP and gamification.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Shifting to Proactive Management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By integrating schedules and performance, the system moves from simple tracking to active institutional improvement.</a:t>
            </a:r>
          </a:p>
        </p:txBody>
      </p:sp>
    </p:spTree>
    <p:extLst>
      <p:ext uri="{BB962C8B-B14F-4D97-AF65-F5344CB8AC3E}">
        <p14:creationId xmlns:p14="http://schemas.microsoft.com/office/powerpoint/2010/main" val="407433473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58962-478B-476B-7EF3-15A7850D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1A0D52C-C301-1C19-CDF9-1B3CCB8EB65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12</a:t>
            </a:fld>
            <a:endParaRPr lang="en-IN" dirty="0"/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B92B31F7-349E-D56A-1462-238199BD991D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GB" dirty="0"/>
              <a:t>References</a:t>
            </a:r>
            <a:endParaRPr lang="en-IN" b="1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A965FBA-4182-C0A3-E960-8F7E4D614D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039" y="1274679"/>
            <a:ext cx="8508274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Ref 1: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Dani Hamdani, Ari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Purno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Wahyu Wibowo, Heri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Heryono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"Evaluating QR Code-Based Attendance System Using User Experience."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Applied Information System and Management (AISM)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Vol. 8, No. 2, 2025.</a:t>
            </a:r>
          </a:p>
          <a:p>
            <a:pPr marL="171450" marR="0" lvl="0" indent="-1714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Ref 2: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Rajvardhan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Golande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Pratik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Kokate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Atish Jangle, Vaibhav Ghadge, Aditya Thorat, Prem Yeole. "Student Management System with Admin, Teacher, and Student Roles." </a:t>
            </a:r>
            <a:r>
              <a:rPr kumimoji="0" lang="en-US" altLang="en-US" sz="1200" b="0" i="1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Alochana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Journal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Vol. 14, Issue 5, 2025.</a:t>
            </a:r>
          </a:p>
          <a:p>
            <a:pPr marL="171450" marR="0" lvl="0" indent="-1714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Ref 3: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Shuang Yu,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Junmin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Ye,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Xinghan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Yin,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Linjing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Wu,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Shufan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Yu,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Mengting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Nan, Sheng Luo. "A learning analytics-based leaderboard feedback approach for promoting student cognitive engagement and learning performance in online collaborative learning."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British Journal of Educational Technology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2025.</a:t>
            </a:r>
          </a:p>
          <a:p>
            <a:pPr marL="171450" marR="0" lvl="0" indent="-1714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Ref 4: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Noor Aldeen A. Khalid. "Develop a new Student Attendance System Using QR Code for Smartphones."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CESSMUDS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Vol. 1, Issue 1, 2025.</a:t>
            </a:r>
          </a:p>
          <a:p>
            <a:pPr marL="171450" marR="0" lvl="0" indent="-1714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Ref 5: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Shirole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Prajwal,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Pingat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Tejas, Jagdale Sarthak, Jori Ritesh, Prof. Thorat S.K. "QR Code-Based Student Attendance System."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International Journal of Advanced Research in Computer and Communication Engineering (IJARCCE)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Vol. 14, Issue 4, 2025.</a:t>
            </a:r>
          </a:p>
          <a:p>
            <a:pPr marL="171450" marR="0" lvl="0" indent="-1714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Ref 6: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Adewole D. B., Olusola S. J., Ogunlana S. O., and Adelola M. A. "Development of an AI-Powered Faculty Support Chatbot."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International Journal of Research and Innovation in Applied Science (IJRIAS)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Vol. X, Issue I, 2025.</a:t>
            </a:r>
          </a:p>
          <a:p>
            <a:pPr marL="171450" marR="0" lvl="0" indent="-1714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Ref 7: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"Predicting Practical Performance of the Student from C Code Submissions."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Naturalista Campano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Vol. 1, Issue 1, 2025.</a:t>
            </a:r>
          </a:p>
          <a:p>
            <a:pPr marL="171450" marR="0" lvl="0" indent="-1714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Ref 8: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"Ai Based Platform For Student (Ai Chatbot, Ai Attendance) Using NLP and K-N-N Algorithm."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International Journal for Science and Advance Research In Technology (IJSART)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2023.</a:t>
            </a:r>
          </a:p>
        </p:txBody>
      </p:sp>
    </p:spTree>
    <p:extLst>
      <p:ext uri="{BB962C8B-B14F-4D97-AF65-F5344CB8AC3E}">
        <p14:creationId xmlns:p14="http://schemas.microsoft.com/office/powerpoint/2010/main" val="53898397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30849E-F7A6-5ED3-F0DD-CF5FC48A9C6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13</a:t>
            </a:fld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0F41802-39C9-442C-A52E-2BA7B3060A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6637" y="2445200"/>
            <a:ext cx="6950076" cy="490904"/>
          </a:xfrm>
        </p:spPr>
        <p:txBody>
          <a:bodyPr/>
          <a:lstStyle/>
          <a:p>
            <a:r>
              <a:rPr lang="en-GB" sz="3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340172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MC Powerpoint Template">
  <a:themeElements>
    <a:clrScheme name="Custom 1">
      <a:dk1>
        <a:srgbClr val="005094"/>
      </a:dk1>
      <a:lt1>
        <a:srgbClr val="FFFFFF"/>
      </a:lt1>
      <a:dk2>
        <a:srgbClr val="FFFFFF"/>
      </a:dk2>
      <a:lt2>
        <a:srgbClr val="FFFFFF"/>
      </a:lt2>
      <a:accent1>
        <a:srgbClr val="005094"/>
      </a:accent1>
      <a:accent2>
        <a:srgbClr val="525252"/>
      </a:accent2>
      <a:accent3>
        <a:srgbClr val="525252"/>
      </a:accent3>
      <a:accent4>
        <a:srgbClr val="005094"/>
      </a:accent4>
      <a:accent5>
        <a:srgbClr val="525252"/>
      </a:accent5>
      <a:accent6>
        <a:srgbClr val="005094"/>
      </a:accent6>
      <a:hlink>
        <a:srgbClr val="525252"/>
      </a:hlink>
      <a:folHlink>
        <a:srgbClr val="005094"/>
      </a:folHlink>
    </a:clrScheme>
    <a:fontScheme name="Montgomery College Fo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51237F"/>
        </a:solidFill>
        <a:ln w="19050" algn="ctr">
          <a:noFill/>
          <a:miter lim="800000"/>
          <a:headEnd/>
          <a:tailEnd/>
        </a:ln>
      </a:spPr>
      <a:bodyPr wrap="none" rtlCol="0" anchor="ctr"/>
      <a:lstStyle>
        <a:defPPr algn="ctr">
          <a:lnSpc>
            <a:spcPct val="90000"/>
          </a:lnSpc>
          <a:defRPr sz="1600" b="1" dirty="0" err="1" smtClean="0">
            <a:solidFill>
              <a:schemeClr val="bg1"/>
            </a:solidFill>
            <a:latin typeface="+mj-lt"/>
          </a:defRPr>
        </a:defPPr>
      </a:lstStyle>
    </a:spDef>
    <a:lnDef>
      <a:spPr>
        <a:ln w="2857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19050" algn="ctr">
          <a:noFill/>
          <a:miter lim="800000"/>
          <a:headEnd/>
          <a:tailEnd/>
        </a:ln>
      </a:spPr>
      <a:bodyPr wrap="square" lIns="0" tIns="0" rIns="0" bIns="0" rtlCol="0">
        <a:spAutoFit/>
      </a:bodyPr>
      <a:lstStyle>
        <a:defPPr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Coalesse Palette">
      <a:dk1>
        <a:sysClr val="windowText" lastClr="000000"/>
      </a:dk1>
      <a:lt1>
        <a:sysClr val="window" lastClr="FFFFFF"/>
      </a:lt1>
      <a:dk2>
        <a:srgbClr val="342B2A"/>
      </a:dk2>
      <a:lt2>
        <a:srgbClr val="DAD6CB"/>
      </a:lt2>
      <a:accent1>
        <a:srgbClr val="E55302"/>
      </a:accent1>
      <a:accent2>
        <a:srgbClr val="5F3032"/>
      </a:accent2>
      <a:accent3>
        <a:srgbClr val="005774"/>
      </a:accent3>
      <a:accent4>
        <a:srgbClr val="9BA03C"/>
      </a:accent4>
      <a:accent5>
        <a:srgbClr val="34AA71"/>
      </a:accent5>
      <a:accent6>
        <a:srgbClr val="F3BD48"/>
      </a:accent6>
      <a:hlink>
        <a:srgbClr val="34AA71"/>
      </a:hlink>
      <a:folHlink>
        <a:srgbClr val="8C8C8C"/>
      </a:folHlink>
    </a:clrScheme>
    <a:fontScheme name="Coalesse">
      <a:majorFont>
        <a:latin typeface="Arial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oalesse Palette">
      <a:dk1>
        <a:sysClr val="windowText" lastClr="000000"/>
      </a:dk1>
      <a:lt1>
        <a:sysClr val="window" lastClr="FFFFFF"/>
      </a:lt1>
      <a:dk2>
        <a:srgbClr val="342B2A"/>
      </a:dk2>
      <a:lt2>
        <a:srgbClr val="DAD6CB"/>
      </a:lt2>
      <a:accent1>
        <a:srgbClr val="E55302"/>
      </a:accent1>
      <a:accent2>
        <a:srgbClr val="5F3032"/>
      </a:accent2>
      <a:accent3>
        <a:srgbClr val="005774"/>
      </a:accent3>
      <a:accent4>
        <a:srgbClr val="9BA03C"/>
      </a:accent4>
      <a:accent5>
        <a:srgbClr val="34AA71"/>
      </a:accent5>
      <a:accent6>
        <a:srgbClr val="F3BD48"/>
      </a:accent6>
      <a:hlink>
        <a:srgbClr val="34AA71"/>
      </a:hlink>
      <a:folHlink>
        <a:srgbClr val="8C8C8C"/>
      </a:folHlink>
    </a:clrScheme>
    <a:fontScheme name="Coalesse">
      <a:majorFont>
        <a:latin typeface="Arial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252</TotalTime>
  <Words>1433</Words>
  <Application>Microsoft Office PowerPoint</Application>
  <PresentationFormat>On-screen Show (16:9)</PresentationFormat>
  <Paragraphs>119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 MT</vt:lpstr>
      <vt:lpstr>Arial</vt:lpstr>
      <vt:lpstr>Wingdings</vt:lpstr>
      <vt:lpstr>Garamond</vt:lpstr>
      <vt:lpstr>Times New Roman</vt:lpstr>
      <vt:lpstr>MC Powerpoint Template</vt:lpstr>
      <vt:lpstr>CAPSTONE PROJECT REVIEW - I</vt:lpstr>
      <vt:lpstr>Contents of the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SANDEEP KUMAR REDDY TAVVA</dc:creator>
  <cp:lastModifiedBy>SANDEEP KUMAR REDDY TAVVA</cp:lastModifiedBy>
  <cp:revision>207</cp:revision>
  <dcterms:created xsi:type="dcterms:W3CDTF">2016-09-09T13:34:50Z</dcterms:created>
  <dcterms:modified xsi:type="dcterms:W3CDTF">2025-12-22T14:57:02Z</dcterms:modified>
</cp:coreProperties>
</file>