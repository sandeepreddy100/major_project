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32" r:id="rId1"/>
  </p:sldMasterIdLst>
  <p:notesMasterIdLst>
    <p:notesMasterId r:id="rId15"/>
  </p:notesMasterIdLst>
  <p:handoutMasterIdLst>
    <p:handoutMasterId r:id="rId16"/>
  </p:handoutMasterIdLst>
  <p:sldIdLst>
    <p:sldId id="575" r:id="rId2"/>
    <p:sldId id="257" r:id="rId3"/>
    <p:sldId id="573" r:id="rId4"/>
    <p:sldId id="571" r:id="rId5"/>
    <p:sldId id="570" r:id="rId6"/>
    <p:sldId id="574" r:id="rId7"/>
    <p:sldId id="546" r:id="rId8"/>
    <p:sldId id="569" r:id="rId9"/>
    <p:sldId id="567" r:id="rId10"/>
    <p:sldId id="572" r:id="rId11"/>
    <p:sldId id="545" r:id="rId12"/>
    <p:sldId id="577" r:id="rId13"/>
    <p:sldId id="514" r:id="rId14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596"/>
    <a:srgbClr val="3A195B"/>
    <a:srgbClr val="005094"/>
    <a:srgbClr val="004170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86425" autoAdjust="0"/>
  </p:normalViewPr>
  <p:slideViewPr>
    <p:cSldViewPr snapToGrid="0" showGuides="1">
      <p:cViewPr varScale="1">
        <p:scale>
          <a:sx n="83" d="100"/>
          <a:sy n="83" d="100"/>
        </p:scale>
        <p:origin x="60" y="68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UMAR REDDY TAVVA" userId="10a689a2c5b210cf" providerId="LiveId" clId="{BA029B44-F033-462E-91A3-7CABCAE711FD}"/>
    <pc:docChg chg="custSel modSld">
      <pc:chgData name="SANDEEP KUMAR REDDY TAVVA" userId="10a689a2c5b210cf" providerId="LiveId" clId="{BA029B44-F033-462E-91A3-7CABCAE711FD}" dt="2026-06-01T16:30:48.613" v="36" actId="20577"/>
      <pc:docMkLst>
        <pc:docMk/>
      </pc:docMkLst>
      <pc:sldChg chg="modSp mod">
        <pc:chgData name="SANDEEP KUMAR REDDY TAVVA" userId="10a689a2c5b210cf" providerId="LiveId" clId="{BA029B44-F033-462E-91A3-7CABCAE711FD}" dt="2026-06-01T16:30:48.613" v="36" actId="20577"/>
        <pc:sldMkLst>
          <pc:docMk/>
          <pc:sldMk cId="3615748509" sldId="575"/>
        </pc:sldMkLst>
        <pc:spChg chg="mod">
          <ac:chgData name="SANDEEP KUMAR REDDY TAVVA" userId="10a689a2c5b210cf" providerId="LiveId" clId="{BA029B44-F033-462E-91A3-7CABCAE711FD}" dt="2026-06-01T16:30:48.613" v="36" actId="20577"/>
          <ac:spMkLst>
            <pc:docMk/>
            <pc:sldMk cId="3615748509" sldId="575"/>
            <ac:spMk id="13" creationId="{174A5FDC-374E-4C44-807E-379B8C1A7C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5913F-2D30-359B-A018-0B709588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336D9-BFD1-65FD-7EB4-400DAED81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33238-BD3C-1589-B2C5-8099D83AA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366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6364-ECE4-B359-72CA-C7D73901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871DA-793D-11ED-A272-669DB718A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84D01-E9CB-AB0D-4CB1-566FD9315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844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739F-82AF-92CD-E44B-07AC4A4F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C1EBC-D359-BAB1-039D-FD63DBCFF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0882-DA3A-8507-09A2-2B950576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030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93DC-7522-5E6A-9DA6-4BDE0389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2F31D-3F82-8217-B36A-58F556179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BB811-877F-7FDD-C825-987340D6C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324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086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E229-4AAF-A5AB-4284-DE6B2456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76D90-B77A-487A-2351-EA6AB0308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99C42-DC6A-C53F-A459-C2B169B49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421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D67F-B267-6492-51F0-397F8F2F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D9BCA-3C48-B0CD-CCF3-FE160BC64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1807-227F-C6CA-58C7-8FBEB53AF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432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9F01-E478-215C-ECA2-9C39D2D0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70149-7783-E0C1-60DB-F05AC3633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75495-DBE9-9339-3882-957AE8641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merges deterministic logic (cut-offs) and intelligent prediction (ML), ensuring accuracy + transparency.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963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difference: rule engine = reliability; ML model = smarter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436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8335-62DC-31B9-D37B-27384A60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21E7A-3B8C-367B-7969-8EC6715D2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0F465-9A80-47E3-3607-16FE3D3A1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difference: rule engine = reliability; ML model = smarter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312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73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61680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691628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485946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485977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 userDrawn="1"/>
        </p:nvSpPr>
        <p:spPr bwMode="auto">
          <a:xfrm>
            <a:off x="4719588" y="1143000"/>
            <a:ext cx="4073090" cy="367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94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 userDrawn="1"/>
        </p:nvSpPr>
        <p:spPr bwMode="auto">
          <a:xfrm>
            <a:off x="442761" y="1143000"/>
            <a:ext cx="8349917" cy="3670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143000"/>
            <a:ext cx="8349916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252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112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84972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932002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30" r:id="rId6"/>
    <p:sldLayoutId id="2147484029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8C1951C4-93AE-4DB7-B5EA-49D22832B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666" y="1391077"/>
            <a:ext cx="8791510" cy="4243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REVIEW </a:t>
            </a:r>
            <a:r>
              <a:rPr lang="en-IN" sz="2200" spc="-1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174A5FDC-374E-4C44-807E-379B8C1A7C48}"/>
              </a:ext>
            </a:extLst>
          </p:cNvPr>
          <p:cNvSpPr txBox="1"/>
          <p:nvPr/>
        </p:nvSpPr>
        <p:spPr>
          <a:xfrm>
            <a:off x="123666" y="2107982"/>
            <a:ext cx="9052825" cy="35522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and Interactive </a:t>
            </a:r>
            <a:r>
              <a:rPr lang="en-GB" sz="2200" spc="-1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Ecosystem.</a:t>
            </a:r>
            <a:endParaRPr lang="en-US" sz="2200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B52336-9937-42CE-9CD3-1A9FFF08020F}"/>
              </a:ext>
            </a:extLst>
          </p:cNvPr>
          <p:cNvSpPr txBox="1"/>
          <p:nvPr/>
        </p:nvSpPr>
        <p:spPr>
          <a:xfrm>
            <a:off x="123666" y="3860550"/>
            <a:ext cx="6933202" cy="111992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Tavva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Sandeep Kumar Reddy(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23951A66H0)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23951A66C0)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Kishore(24955A6651).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F5F14-B7D7-4625-A8EF-1B0BE817536D}"/>
              </a:ext>
            </a:extLst>
          </p:cNvPr>
          <p:cNvSpPr txBox="1"/>
          <p:nvPr/>
        </p:nvSpPr>
        <p:spPr bwMode="auto">
          <a:xfrm>
            <a:off x="5788180" y="3701244"/>
            <a:ext cx="3388311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Shaik </a:t>
            </a:r>
            <a:r>
              <a:rPr lang="en-GB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Jakeer</a:t>
            </a:r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Hussain, Associate Professor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ML).</a:t>
            </a:r>
            <a:endParaRPr lang="en-IN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51E22A2-205D-43E4-85C7-5AF3D8EA7555}"/>
              </a:ext>
            </a:extLst>
          </p:cNvPr>
          <p:cNvSpPr txBox="1">
            <a:spLocks/>
          </p:cNvSpPr>
          <p:nvPr/>
        </p:nvSpPr>
        <p:spPr>
          <a:xfrm>
            <a:off x="123666" y="3351725"/>
            <a:ext cx="8791510" cy="349519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74850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1071012"/>
            <a:ext cx="0" cy="3467735"/>
          </a:xfrm>
          <a:custGeom>
            <a:avLst/>
            <a:gdLst/>
            <a:ahLst/>
            <a:cxnLst/>
            <a:rect l="l" t="t" r="r" b="b"/>
            <a:pathLst>
              <a:path h="3467735">
                <a:moveTo>
                  <a:pt x="0" y="0"/>
                </a:moveTo>
                <a:lnTo>
                  <a:pt x="0" y="3467493"/>
                </a:lnTo>
              </a:path>
            </a:pathLst>
          </a:custGeom>
          <a:ln w="19050">
            <a:solidFill>
              <a:srgbClr val="00509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653" y="1071012"/>
            <a:ext cx="4612850" cy="4459554"/>
          </a:xfrm>
          <a:prstGeom prst="rect">
            <a:avLst/>
          </a:prstGeom>
        </p:spPr>
        <p:txBody>
          <a:bodyPr vert="horz" wrap="square" lIns="0" tIns="88265" rIns="0" bIns="0" rtlCol="0" anchor="t">
            <a:spAutoFit/>
          </a:bodyPr>
          <a:lstStyle/>
          <a:p>
            <a:pPr marL="283845" indent="-271145">
              <a:spcBef>
                <a:spcPts val="695"/>
              </a:spcBef>
              <a:buClr>
                <a:srgbClr val="005093"/>
              </a:buClr>
              <a:buFont typeface="Wingdings"/>
              <a:buChar char=""/>
              <a:tabLst>
                <a:tab pos="283845" algn="l"/>
              </a:tabLst>
            </a:pPr>
            <a:r>
              <a:rPr lang="en-US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1: 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Solutions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(Techniques &amp; Approaches)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 Planned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or Outcomes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GB" sz="1600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653" y="372218"/>
            <a:ext cx="707231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4132" y="1178469"/>
            <a:ext cx="3495675" cy="3467100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76E399F-55E0-4BDB-951D-6A5B065C3946}"/>
              </a:ext>
            </a:extLst>
          </p:cNvPr>
          <p:cNvSpPr txBox="1">
            <a:spLocks/>
          </p:cNvSpPr>
          <p:nvPr/>
        </p:nvSpPr>
        <p:spPr>
          <a:xfrm>
            <a:off x="8629650" y="4817444"/>
            <a:ext cx="514350" cy="3260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327F5A-7D8F-4012-9A1A-2197D74A174F}" type="slidenum">
              <a:rPr lang="en-IN" sz="1200" smtClean="0">
                <a:solidFill>
                  <a:schemeClr val="bg1"/>
                </a:solidFill>
              </a:rPr>
              <a:pPr algn="r"/>
              <a:t>2</a:t>
            </a:fld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8DF6-BB8D-EB7D-A897-C62BB278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6229C-17B0-DD49-D9E2-25C95A828D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28ED3D5-034D-6893-A99A-724D55E1C53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Abstract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2368B-E13A-9B2D-0629-35B54AC5AC9B}"/>
              </a:ext>
            </a:extLst>
          </p:cNvPr>
          <p:cNvSpPr txBox="1"/>
          <p:nvPr/>
        </p:nvSpPr>
        <p:spPr bwMode="auto">
          <a:xfrm>
            <a:off x="243840" y="1294477"/>
            <a:ext cx="8133805" cy="255454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the </a:t>
            </a: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Institutional Management &amp; Engagement System (SIMES)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 integrated multi-role ecosystem (Admin, Faculty, Student) designed to modernize institutional administration and enhance student engagement. The system enables seamless attendance automation through a dual-mode approach—incorporating dynamic QR scanning and digital manual entries for maximum flexibility. Beyond administrative tracking, SIMES integrates a </a:t>
            </a: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gamified coding leaderboard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motivate student technical skill development through real-time rank visibility. By synchronizing master timetables with live performance analytics, the platform provides a proactive, affordable, and transparent academic environment, aiming to improve the overall quality of institutional management for all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5123810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A6C9-9055-6573-8A0E-0EF1A692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A0E39-C8B9-C3E6-FAAF-D432EEBDFD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B00C785-CAE1-CB02-AC39-33FE09262376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Problem Statement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46822-ADC1-ED1C-4454-10CD7B5879AB}"/>
              </a:ext>
            </a:extLst>
          </p:cNvPr>
          <p:cNvSpPr txBox="1"/>
          <p:nvPr/>
        </p:nvSpPr>
        <p:spPr bwMode="auto">
          <a:xfrm>
            <a:off x="278673" y="1250581"/>
            <a:ext cx="8098972" cy="304698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institutional management faces significant operational challenges due to manual roll-call attendance processes, which are not only time-consuming but also highly prone to human error and proxy entries . This inefficiency is compounded by severe data fragmentation, where class schedules, attendance logs, and student performance metrics are stored in disconnected silos, preventing a unified, "360-degree" view of student progress and institutional operations . Furthermore, most current systems are purely reactive, focusing on historical tracking rather than utilizing proactive tools like real-time monitoring and gamified leaderboards to drive student engagement and technical competency . Finally, limited accessibility to timely academic data and a lack of integrated, automated support for managing user credentials and dynamic schedules hinder the productivity of students, faculty, and administrators, highlighting a critical need for a more intelligent and cohesive management ecosystem</a:t>
            </a:r>
          </a:p>
        </p:txBody>
      </p:sp>
    </p:spTree>
    <p:extLst>
      <p:ext uri="{BB962C8B-B14F-4D97-AF65-F5344CB8AC3E}">
        <p14:creationId xmlns:p14="http://schemas.microsoft.com/office/powerpoint/2010/main" val="33532821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38FC-29C1-E364-537E-3B08D456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821BF-1083-27CD-1111-984C3C8B679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DE1E5D0-165E-509D-0E70-D69A3FDECCC5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Existing Solutions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E5EF11-3872-86B1-A55D-DB1FA9606E1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40" y="1346876"/>
            <a:ext cx="89611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 error rates and physical storage requirements.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Biometric/Standalone QR Apps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Often lack role-based administrative control or backup attendance modes.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LMS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Focus on document sharing but do not integrate real-time scheduling with attendance.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Coding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Performance is tracked externally and never linked to institutional records.</a:t>
            </a:r>
          </a:p>
        </p:txBody>
      </p:sp>
    </p:spTree>
    <p:extLst>
      <p:ext uri="{BB962C8B-B14F-4D97-AF65-F5344CB8AC3E}">
        <p14:creationId xmlns:p14="http://schemas.microsoft.com/office/powerpoint/2010/main" val="18104863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2B77-647A-5520-2C3E-E40BF58E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01C23B-163E-FD75-6ECE-E56DE0F283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AB41BDA-CC94-30B7-03B3-3372EBEF4E7B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Gaps in Existing Solutions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9F32C3-F316-E335-501E-A6749D0C8A2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263348"/>
            <a:ext cx="829535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Proactive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Most systems require repetitive manual clicks; few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NLP-based transactional commands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bulk attendance.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Interoperability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Fitness between the master timetable and daily student schedules is often missing.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Gamification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Systems are purely administrative and do not utilize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drive competition.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Admin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Admins often cannot modify logs or manage student credentials directly through a unified portal.</a:t>
            </a:r>
          </a:p>
        </p:txBody>
      </p:sp>
    </p:spTree>
    <p:extLst>
      <p:ext uri="{BB962C8B-B14F-4D97-AF65-F5344CB8AC3E}">
        <p14:creationId xmlns:p14="http://schemas.microsoft.com/office/powerpoint/2010/main" val="32357207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Proposed Work (Techniques &amp; Approaches)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702395-8768-8F41-D9F5-22DD7949F0A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9325" y="1198399"/>
            <a:ext cx="8109857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GB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Attendance Engine: </a:t>
            </a:r>
            <a:r>
              <a:rPr kumimoji="0" lang="en-GB" altLang="en-US" sz="130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QR scanning for high-speed logging and a streamlined manual interface for faculty to handle exceptions and bulk attendance adjustments.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GB" altLang="en-US" sz="130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Module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real-time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Coding Leaderboard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aggregates student technical scores onto their daily dashboards to foster engagement.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Scheduling System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centralized timetable logic that automatically populates role-specific "Today's Schedule" for all users.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BAA2E4-BC27-938F-CAB9-B701F8535D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9325" y="2855368"/>
            <a:ext cx="9051835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Multi-Role Dashboards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Master Timetable, global logs, and record modification.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Attendance analysis, NLP assistant, and credential reset tools.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Personal QR profile, attendance metrics, and leaderboard standing.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Backend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Node.js ecosystem with MongoDB for real-time synchronization and JWT for secure access.</a:t>
            </a:r>
          </a:p>
        </p:txBody>
      </p:sp>
    </p:spTree>
    <p:extLst>
      <p:ext uri="{BB962C8B-B14F-4D97-AF65-F5344CB8AC3E}">
        <p14:creationId xmlns:p14="http://schemas.microsoft.com/office/powerpoint/2010/main" val="17654906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5995-559E-8EA3-3DC0-D1252C68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750BE3-4B65-317D-7742-BBC53CE7312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719171A-B92E-4E1A-8CFD-7B9315F09FDD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Objectives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815753-089D-E656-93C1-D8F1E65FF9A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314" y="1313085"/>
            <a:ext cx="90133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triple-mode attendance system that reduces marking time by over 80%.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synchronization engine that maps student attendance directly to the Master Timetable to ensure 100% data accuracy.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gamified coding leaderboards directly into the institutional management workflow.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a "Master Control" dashboard for total oversight of schedules and records.</a:t>
            </a:r>
          </a:p>
        </p:txBody>
      </p:sp>
    </p:spTree>
    <p:extLst>
      <p:ext uri="{BB962C8B-B14F-4D97-AF65-F5344CB8AC3E}">
        <p14:creationId xmlns:p14="http://schemas.microsoft.com/office/powerpoint/2010/main" val="1022208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0320-F17A-E107-500E-51C40528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4E1794-51E0-C52E-042A-9B55878E845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BAE409D-C157-7064-BFF0-78EBEC038A3D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Experiments Planned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092E03-4657-71F6-FDBD-527314A27B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417588"/>
            <a:ext cx="898216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GB" altLang="en-US" sz="160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the system’s ability to handle multiple simultaneous QR scans without data collisions.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Scan Latency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Measuring the time taken from a mobile scan to a database update.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Validating that data privacy is maintained across Admin, Faculty, and Student roles.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Scaling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Ensuring real-time ranking updates do not degrade system performance under high traffic.</a:t>
            </a:r>
          </a:p>
        </p:txBody>
      </p:sp>
    </p:spTree>
    <p:extLst>
      <p:ext uri="{BB962C8B-B14F-4D97-AF65-F5344CB8AC3E}">
        <p14:creationId xmlns:p14="http://schemas.microsoft.com/office/powerpoint/2010/main" val="215163302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4D51-9F34-9E41-9876-B140E14B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A8204D-52AC-ADF7-4E32-D70206388ED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333397D-98BE-270D-F6FA-3A095E1560CF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939359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Expected Results or Outcomes</a:t>
            </a: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C241F5-A0BE-647C-1C27-656D5657D0E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085" y="1294477"/>
            <a:ext cx="896982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Significant reduction in time spent on attendance and administrative record-keeping.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Measurable increase in student coding activity due to leaderboard visibility.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100% record integrity through the Admin's ability to correct logs and modify timetables.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Ecosystem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single source of truth for all institutional data (Schedule + Attendance + Performance).</a:t>
            </a:r>
          </a:p>
        </p:txBody>
      </p:sp>
    </p:spTree>
    <p:extLst>
      <p:ext uri="{BB962C8B-B14F-4D97-AF65-F5344CB8AC3E}">
        <p14:creationId xmlns:p14="http://schemas.microsoft.com/office/powerpoint/2010/main" val="265394167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462B516-B181-44D2-B7A3-261E57E1DFDE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Conclusion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A6E10E-FC71-E057-C72C-7F771E1089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1360976"/>
            <a:ext cx="902512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Comprehensive Solution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Unlike isolated apps, it creates a unified ecosystem for management and student success.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 Addresses Gaps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solves the problems of fragmentation, click-fatigue, and low engagement through NLP and gamification.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Shifting to Proactive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By integrating schedules and performance, the system moves from simple tracking to active institutional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407433473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8962-478B-476B-7EF3-15A7850D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A0D52C-C301-1C19-CDF9-1B3CCB8EB6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92B31F7-349E-D56A-1462-238199BD991D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GB" dirty="0"/>
              <a:t>References</a:t>
            </a:r>
            <a:endParaRPr lang="en-IN" b="1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965FBA-4182-C0A3-E960-8F7E4D614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" y="1136180"/>
            <a:ext cx="850827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1: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Dani Hamdani, Ari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Purno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Wahyu Wibowo, Heri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Heryono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"Evaluating QR Code-Based Attendance System Using User Experience."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Information System and Management (AISM)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8, No. 2, 2025.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2: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Rajvardhan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Golande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Pratik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Kokate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Atish Jangle, Vaibhav Ghadge, Aditya Thorat, Prem Yeole. "Student Management System with Admin, Teacher, and Student Roles."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Alochana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Journal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Issue 5, 2025.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3: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Shuang Yu,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Junmin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Xinghan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Yin,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Linjing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Wu,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Shufan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Yu,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Mengting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Nan, Sheng Luo. "A learning analytics-based leaderboard feedback approach for promoting student cognitive engagement and learning performance in online collaborative learning."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British Journal of Educational Technology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4: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Noor Aldeen A. Khalid. "Develop a new Student Attendance System Using QR Code for Smartphones."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CESSMUDS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1, Issue 1, 2025.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5: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Shirole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Prajwal,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Pingat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Tejas, Jagdale Sarthak, Jori Ritesh, Prof. Thorat S.K. "QR Code-Based Student Attendance System."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and Communication Engineering (IJARCCE)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Issue 4, 2025.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 6: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Adewole D. B., Olusola S. J., Ogunlana S. O., and Adelola M. A. "Development of an AI-Powered Faculty Support Chatbot."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and Innovation in Applied Science (IJRIAS)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X, Issue I, 2025.</a:t>
            </a:r>
          </a:p>
        </p:txBody>
      </p:sp>
    </p:spTree>
    <p:extLst>
      <p:ext uri="{BB962C8B-B14F-4D97-AF65-F5344CB8AC3E}">
        <p14:creationId xmlns:p14="http://schemas.microsoft.com/office/powerpoint/2010/main" val="53898397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41802-39C9-442C-A52E-2BA7B306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1348</Words>
  <Application>Microsoft Office PowerPoint</Application>
  <PresentationFormat>On-screen Show (16:9)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Arial MT</vt:lpstr>
      <vt:lpstr>Garamond</vt:lpstr>
      <vt:lpstr>Wingdings</vt:lpstr>
      <vt:lpstr>Arial</vt:lpstr>
      <vt:lpstr>MC Powerpoint Template</vt:lpstr>
      <vt:lpstr>CAPSTONE PROJECT REVIEW - I</vt:lpstr>
      <vt:lpstr>Contents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SANDEEP KUMAR REDDY TAVVA</dc:creator>
  <cp:lastModifiedBy>SANDEEP KUMAR REDDY TAVVA</cp:lastModifiedBy>
  <cp:revision>207</cp:revision>
  <dcterms:created xsi:type="dcterms:W3CDTF">2016-09-09T13:34:50Z</dcterms:created>
  <dcterms:modified xsi:type="dcterms:W3CDTF">2026-06-01T16:30:54Z</dcterms:modified>
</cp:coreProperties>
</file>